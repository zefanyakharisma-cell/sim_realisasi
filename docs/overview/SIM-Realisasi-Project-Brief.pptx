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a95de37-b089-74b8-bd42-fcf82dc561d8}">
          <p14:sldIdLst>
            <p14:sldId id="256"/>
            <p14:sldId id="257"/>
            <p14:sldId id="258"/>
            <p14:sldId id="259"/>
            <p14:sldId id="260"/>
          </p14:sldIdLst>
        </p14:section>
        <p14:section name="How it works" id="{949e6ca3-6823-7369-54e7-eaf23c72fa79}">
          <p14:sldIdLst>
            <p14:sldId id="261"/>
            <p14:sldId id="262"/>
            <p14:sldId id="263"/>
            <p14:sldId id="264"/>
          </p14:sldIdLst>
        </p14:section>
        <p14:section name="What it counts" id="{c673f54a-dee3-ccbe-3fa7-75a1af5abde0}">
          <p14:sldIdLst>
            <p14:sldId id="265"/>
            <p14:sldId id="266"/>
            <p14:sldId id="267"/>
          </p14:sldIdLst>
        </p14:section>
        <p14:section name="How it is built" id="{44b4902e-29bc-48ff-5fee-bbf8652a6efd}">
          <p14:sldIdLst>
            <p14:sldId id="268"/>
            <p14:sldId id="269"/>
            <p14:sldId id="270"/>
            <p14:sldId id="271"/>
          </p14:sldIdLst>
        </p14:section>
        <p14:section name="Status and decisions" id="{299d6bc9-d369-8ccc-bdcd-8e134a9b9636}">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 Realisasi records every activity that carries out one of PCU's MoUs and MoAs, has KUI verify the mobility ones, and turns the verified data into the RENSTRA indicators and the International Awards rankings. This deck walks through the project brief: what it does, how the process runs, what it counts, how it is built, and what we need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install already runs inside the SIM Kerjasama Supabase project. The numbers here come from demo data generated over real SIM Kerjasama agreements and units, so they show the system working end to end, not real reporting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how realizations are collected today. Right is what changes: the unit reports once, BAAK confirms the students, the database does the counting, and frozen semesters stay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appear on every screen and in every rule. The most important: one kegiatan is one IA and one IR, linked to exactly one agreement, and only mobility kegiatan go through KUI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enforced by row-level security and by permission checks inside every SQL function. Personal data follows UU PDP 27/2022: every export with student names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diagrams that follow are the Bizagi-style BPMN models from docs/bpmn. The .bpmn files open in Bizagi Modeler through File, Import, BPMN.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unit fills in the detail and one agreement, adds participants and files, and submits. Non-mobility kegiatan are verified at once. Mobility kegiatan go to KUI, who checks the participants and the combined PDF, decides any student claimed by two units, and either approves with a simple confirmation or sends it back with a note. The full-size diagram is in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flow as the diagram, in five steps. The colour dot under each step shows the lane: blue for the unit, amber for KUI, teal for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independent starts. Daily reminders; the yearly target setting; the semester cutoff that freezes a snapshot; and late data, which never changes a frozen number but appears in the next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app the indicators are called RENSTRA. Since Revisi V.2 every count is reported per unit and rolled up the unit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counts students per kegiatan; a student in two kegiatan of one unit counts twice, but two units claiming the same student on overlapping dates count once, for the unit KUI chose. 1.19.S1 counts international kegiatan. 1.19.S4, internally still coded 1.19.24, is the share of agreements actually used, counted by renewal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period cut-offs apply to the dashboard, charts, reports and every export. Awards rank Program Studi only and show the top three. Each RENSTRA report has a Target column that KUI fills in per unit and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mainly for the programmers. The ERD and data dictionary are in the ERD artifact; the architecture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dashed boxes are read-only views over SIM Kerjasama; SIM Realisasi never writes SIM Kerjasama tables. The newest table is renstra_targets, one target per indicator, unit and year. Open the ERD artifact to search every table and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Next.js app is a thin, role-aware layer. Every rule, from status to RENSTRA math, is SQL inside the realisasi schema, so the screen, the Excel file and the frozen snapshot always agree. SIM Kerjasama data is read through eight views and never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deploy prints a fingerprint of functions, columns and policies; it must match the rehearsed values. Read docs/spec/Rules.md for behaviour and docs/CONTRACTS.md for interfaces before changing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slides: the timeline so far, then the decisions and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documents PRD, Architecture and Schema still describe v1.0; Rules.md is current and should be the reference until they are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needs decisions from the Director; the right column is work the programmers can schedule. Removing the demo data before go-live keeps the first frozen semester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page has the full-size diagrams, the searchable data dictionary and a Director or Programmer view. Both links are private until shared from the page's Share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CU-Cover-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PCU-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CU 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SIM_Realisasi/public/brand/logo-petra.png">    </p:cNvPr>
          <p:cNvPicPr>
            <a:picLocks noChangeAspect="1"/>
          </p:cNvPicPr>
          <p:nvPr/>
        </p:nvPicPr>
        <p:blipFill>
          <a:blip r:embed="rId1"/>
          <a:stretch>
            <a:fillRect/>
          </a:stretch>
        </p:blipFill>
        <p:spPr>
          <a:xfrm>
            <a:off x="548640" y="502920"/>
            <a:ext cx="2194560" cy="771484"/>
          </a:xfrm>
          <a:prstGeom prst="rect">
            <a:avLst/>
          </a:prstGeom>
        </p:spPr>
      </p:pic>
      <p:sp>
        <p:nvSpPr>
          <p:cNvPr id="3" name="Text 0"/>
          <p:cNvSpPr/>
          <p:nvPr>
            <p:ph idx="101" type="body" hasCustomPrompt="1"/>
          </p:nvPr>
        </p:nvSpPr>
        <p:spPr>
          <a:xfrm>
            <a:off x="548640" y="2148840"/>
            <a:ext cx="8229600" cy="365760"/>
          </a:xfrm>
          <a:prstGeom prst="rect">
            <a:avLst/>
          </a:prstGeom>
          <a:noFill/>
          <a:ln/>
        </p:spPr>
        <p:txBody>
          <a:bodyPr wrap="square" rtlCol="0"/>
          <a:lstStyle>
            <a:lvl1pPr indent="0" marL="0">
              <a:buNone/>
              <a:defRPr lang="en-US" sz="1200" b="1" spc="220" kern="0" dirty="0">
                <a:solidFill>
                  <a:schemeClr val="accent2"/>
                </a:solidFill>
              </a:defRPr>
            </a:lvl1pPr>
          </a:lstStyle>
          <a:p>
            <a:pPr indent="0" marL="0">
              <a:buNone/>
            </a:pPr>
            <a:endParaRPr lang="en-US" sz="1200" dirty="0"/>
          </a:p>
        </p:txBody>
      </p:sp>
      <p:sp>
        <p:nvSpPr>
          <p:cNvPr id="4" name="Text 0"/>
          <p:cNvSpPr/>
          <p:nvPr>
            <p:ph idx="102" type="title" hasCustomPrompt="1"/>
          </p:nvPr>
        </p:nvSpPr>
        <p:spPr>
          <a:xfrm>
            <a:off x="548640" y="2560320"/>
            <a:ext cx="8412480" cy="1371600"/>
          </a:xfrm>
          <a:prstGeom prst="rect">
            <a:avLst/>
          </a:prstGeom>
          <a:noFill/>
          <a:ln/>
        </p:spPr>
        <p:txBody>
          <a:bodyPr wrap="square" rtlCol="0"/>
          <a:lstStyle>
            <a:lvl1pPr algn="l" indent="0" marL="0">
              <a:buNone/>
              <a:defRPr lang="en-US" sz="6000" b="1" spc="-120" kern="0" dirty="0">
                <a:solidFill>
                  <a:schemeClr val="bg1"/>
                </a:solidFill>
              </a:defRPr>
            </a:lvl1pPr>
          </a:lstStyle>
          <a:p>
            <a:pPr algn="l" indent="0" marL="0">
              <a:buNone/>
            </a:pPr>
            <a:endParaRPr lang="en-US" sz="6000" dirty="0"/>
          </a:p>
        </p:txBody>
      </p:sp>
      <p:sp>
        <p:nvSpPr>
          <p:cNvPr id="5" name="Text 0"/>
          <p:cNvSpPr/>
          <p:nvPr>
            <p:ph idx="103" type="body" hasCustomPrompt="1"/>
          </p:nvPr>
        </p:nvSpPr>
        <p:spPr>
          <a:xfrm>
            <a:off x="548640" y="3977640"/>
            <a:ext cx="749808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6" name="Text 0"/>
          <p:cNvSpPr/>
          <p:nvPr/>
        </p:nvSpPr>
        <p:spPr>
          <a:xfrm>
            <a:off x="548640" y="6035040"/>
            <a:ext cx="5486400" cy="320040"/>
          </a:xfrm>
          <a:prstGeom prst="rect">
            <a:avLst/>
          </a:prstGeom>
          <a:noFill/>
          <a:ln/>
        </p:spPr>
        <p:txBody>
          <a:bodyPr wrap="square" lIns="0" tIns="0" rIns="0" bIns="0" rtlCol="0" anchor="ctr"/>
          <a:lstStyle/>
          <a:p>
            <a:pPr indent="0" marL="0">
              <a:buNone/>
            </a:pPr>
            <a:r>
              <a:rPr lang="en-US" sz="1100" b="1" spc="400" kern="0" dirty="0">
                <a:solidFill>
                  <a:schemeClr val="bg2"/>
                </a:solidFill>
              </a:rPr>
              <a:t>EXPLORE | DISCOVER | TRANSFORM</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CU 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rtlCol="0"/>
          <a:lstStyle>
            <a:lvl1pPr algn="l" indent="0" marL="0">
              <a:buNone/>
              <a:defRPr lang="en-US" sz="4400" b="1" spc="-100" kern="0"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pic>
        <p:nvPicPr>
          <p:cNvPr id="5" name="Image 0" descr="/home/user/SIM_Realisasi/public/brand/logo-petra.png">    </p:cNvPr>
          <p:cNvPicPr>
            <a:picLocks noChangeAspect="1"/>
          </p:cNvPicPr>
          <p:nvPr/>
        </p:nvPicPr>
        <p:blipFill>
          <a:blip r:embed="rId1"/>
          <a:stretch>
            <a:fillRect/>
          </a:stretch>
        </p:blipFill>
        <p:spPr>
          <a:xfrm>
            <a:off x="548640" y="5897880"/>
            <a:ext cx="1463040" cy="514323"/>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CU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100" b="1" spc="220" kern="0" dirty="0">
                <a:solidFill>
                  <a:srgbClr val="46505C"/>
                </a:solidFill>
              </a:defRPr>
            </a:lvl1pPr>
          </a:lstStyle>
          <a:p>
            <a:pPr indent="0" marL="0">
              <a:buNone/>
            </a:pP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rtlCol="0"/>
          <a:lstStyle>
            <a:lvl1pPr algn="l" indent="0" marL="0">
              <a:buNone/>
              <a:defRPr lang="en-US" sz="3200" b="1" spc="-60" kern="0" dirty="0">
                <a:solidFill>
                  <a:schemeClr val="tx2"/>
                </a:solidFill>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F6B78"/>
                </a:solidFill>
              </a:rPr>
              <a:t>SIM Realisasi · Project brief</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2148840"/>
            <a:ext cx="8229600" cy="365760"/>
          </a:xfrm>
          <a:prstGeom prst="rect">
            <a:avLst/>
          </a:prstGeom>
          <a:noFill/>
          <a:ln/>
        </p:spPr>
        <p:txBody>
          <a:bodyPr wrap="square" lIns="0" tIns="0" rIns="0" bIns="0" rtlCol="0" anchor="t"/>
          <a:lstStyle/>
          <a:p>
            <a:pPr indent="0" marL="0">
              <a:buNone/>
            </a:pPr>
            <a:r>
              <a:rPr lang="en-US" sz="1200" b="1" spc="220" kern="0" dirty="0">
                <a:solidFill>
                  <a:schemeClr val="accent2"/>
                </a:solidFill>
              </a:rPr>
              <a:t>KANTOR KERJA SAMA DAN URUSAN INTERNASIONAL</a:t>
            </a:r>
            <a:endParaRPr lang="en-US" sz="1200" dirty="0"/>
          </a:p>
        </p:txBody>
      </p:sp>
      <p:sp>
        <p:nvSpPr>
          <p:cNvPr id="3" name="Text 0"/>
          <p:cNvSpPr/>
          <p:nvPr>
            <p:ph idx="102" type="title" hasCustomPrompt="1"/>
          </p:nvPr>
        </p:nvSpPr>
        <p:spPr>
          <a:xfrm>
            <a:off x="548640" y="2560320"/>
            <a:ext cx="8412480" cy="1371600"/>
          </a:xfrm>
          <a:prstGeom prst="rect">
            <a:avLst/>
          </a:prstGeom>
          <a:noFill/>
          <a:ln/>
        </p:spPr>
        <p:txBody>
          <a:bodyPr wrap="square" lIns="0" tIns="0" rIns="0" bIns="0" rtlCol="0" anchor="t"/>
          <a:lstStyle/>
          <a:p>
            <a:pPr algn="l" indent="0" marL="0">
              <a:buNone/>
            </a:pPr>
            <a:r>
              <a:rPr lang="en-US" sz="6000" b="1" spc="-120" kern="0" dirty="0">
                <a:solidFill>
                  <a:schemeClr val="bg1"/>
                </a:solidFill>
              </a:rPr>
              <a:t>SIM Realisasi</a:t>
            </a:r>
            <a:endParaRPr lang="en-US" sz="6000" dirty="0"/>
          </a:p>
        </p:txBody>
      </p:sp>
      <p:sp>
        <p:nvSpPr>
          <p:cNvPr id="4" name="Text 0"/>
          <p:cNvSpPr/>
          <p:nvPr>
            <p:ph idx="103" type="body" hasCustomPrompt="1"/>
          </p:nvPr>
        </p:nvSpPr>
        <p:spPr>
          <a:xfrm>
            <a:off x="548640" y="3977640"/>
            <a:ext cx="7498080" cy="914400"/>
          </a:xfrm>
          <a:prstGeom prst="rect">
            <a:avLst/>
          </a:prstGeom>
          <a:noFill/>
          <a:ln/>
        </p:spPr>
        <p:txBody>
          <a:bodyPr wrap="square" lIns="0" tIns="0" rIns="0" bIns="0" rtlCol="0" anchor="t"/>
          <a:lstStyle/>
          <a:p>
            <a:pPr indent="0" marL="0">
              <a:buNone/>
            </a:pPr>
            <a:r>
              <a:rPr lang="en-US" sz="2200" dirty="0">
                <a:solidFill>
                  <a:schemeClr val="bg2"/>
                </a:solidFill>
              </a:rPr>
              <a:t>Project brief for the IO Director and programmers</a:t>
            </a:r>
            <a:endParaRPr lang="en-US" sz="2200" dirty="0"/>
          </a:p>
          <a:p>
            <a:pPr indent="0" marL="0">
              <a:buNone/>
            </a:pPr>
            <a:r>
              <a:rPr lang="en-US" sz="1600" dirty="0">
                <a:solidFill>
                  <a:schemeClr val="bg2"/>
                </a:solidFill>
              </a:rPr>
              <a:t>26 October 2026</a:t>
            </a:r>
            <a:endParaRPr lang="en-US" sz="2200" dirty="0"/>
          </a:p>
        </p:txBody>
      </p:sp>
      <p:pic>
        <p:nvPicPr>
          <p:cNvPr id="5" name="amber half ring" descr="preencoded.png">    </p:cNvPr>
          <p:cNvPicPr>
            <a:picLocks noChangeAspect="1"/>
          </p:cNvPicPr>
          <p:nvPr/>
        </p:nvPicPr>
        <p:blipFill>
          <a:blip r:embed="rId1"/>
          <a:stretch>
            <a:fillRect/>
          </a:stretch>
        </p:blipFill>
        <p:spPr>
          <a:xfrm>
            <a:off x="7955280" y="3931920"/>
            <a:ext cx="5852160" cy="2926080"/>
          </a:xfrm>
          <a:prstGeom prst="rect">
            <a:avLst/>
          </a:prstGeom>
        </p:spPr>
      </p:pic>
      <p:pic>
        <p:nvPicPr>
          <p:cNvPr id="6" name="teal half ring" descr="preencoded.png">    </p:cNvPr>
          <p:cNvPicPr>
            <a:picLocks noChangeAspect="1"/>
          </p:cNvPicPr>
          <p:nvPr/>
        </p:nvPicPr>
        <p:blipFill>
          <a:blip r:embed="rId2"/>
          <a:stretch>
            <a:fillRect/>
          </a:stretch>
        </p:blipFill>
        <p:spPr>
          <a:xfrm>
            <a:off x="9966960" y="0"/>
            <a:ext cx="2926080" cy="1463040"/>
          </a:xfrm>
          <a:prstGeom prst="rect">
            <a:avLst/>
          </a:prstGeom>
        </p:spPr>
      </p:pic>
      <p:pic>
        <p:nvPicPr>
          <p:cNvPr id="7" name="cerise half ring" descr="preencoded.png">    </p:cNvPr>
          <p:cNvPicPr>
            <a:picLocks noChangeAspect="1"/>
          </p:cNvPicPr>
          <p:nvPr/>
        </p:nvPicPr>
        <p:blipFill>
          <a:blip r:embed="rId3"/>
          <a:stretch>
            <a:fillRect/>
          </a:stretch>
        </p:blipFill>
        <p:spPr>
          <a:xfrm>
            <a:off x="8412480" y="0"/>
            <a:ext cx="146304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OVERVIEW</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One place to report, verify and count every realization</a:t>
            </a:r>
            <a:endParaRPr lang="en-US" sz="3200" dirty="0"/>
          </a:p>
        </p:txBody>
      </p:sp>
      <p:sp>
        <p:nvSpPr>
          <p:cNvPr id="4" name="Text 2"/>
          <p:cNvSpPr txBox="1"/>
          <p:nvPr/>
        </p:nvSpPr>
        <p:spPr>
          <a:xfrm>
            <a:off x="548640" y="1600200"/>
            <a:ext cx="10607040" cy="868680"/>
          </a:xfrm>
          <a:prstGeom prst="rect">
            <a:avLst/>
          </a:prstGeom>
          <a:noFill/>
          <a:ln/>
        </p:spPr>
        <p:txBody>
          <a:bodyPr wrap="square" lIns="0" tIns="0" rIns="0" bIns="0" rtlCol="0" anchor="t"/>
          <a:lstStyle/>
          <a:p>
            <a:pPr indent="0" marL="0">
              <a:buNone/>
            </a:pPr>
            <a:r>
              <a:rPr lang="en-US" sz="1700" dirty="0">
                <a:solidFill>
                  <a:schemeClr val="tx1"/>
                </a:solidFill>
              </a:rPr>
              <a:t>SIM Realisasi records each activity that carries out a PCU MoU or MoA, has KUI verify the mobility ones, and computes the RENSTRA indicators and International Awards from verified data only, with semester reports that never change after they are frozen.</a:t>
            </a:r>
            <a:endParaRPr lang="en-US" sz="1700" dirty="0"/>
          </a:p>
        </p:txBody>
      </p:sp>
      <p:sp>
        <p:nvSpPr>
          <p:cNvPr id="5" name="stat card"/>
          <p:cNvSpPr/>
          <p:nvPr/>
        </p:nvSpPr>
        <p:spPr>
          <a:xfrm>
            <a:off x="548640" y="2743200"/>
            <a:ext cx="2560320" cy="2331720"/>
          </a:xfrm>
          <a:prstGeom prst="roundRect">
            <a:avLst>
              <a:gd name="adj" fmla="val 3137"/>
            </a:avLst>
          </a:prstGeom>
          <a:solidFill>
            <a:schemeClr val="bg2"/>
          </a:solidFill>
          <a:ln w="12700">
            <a:solidFill>
              <a:schemeClr val="bg2"/>
            </a:solidFill>
            <a:prstDash val="solid"/>
          </a:ln>
        </p:spPr>
      </p:sp>
      <p:sp>
        <p:nvSpPr>
          <p:cNvPr id="6" name="Text 4"/>
          <p:cNvSpPr txBox="1"/>
          <p:nvPr/>
        </p:nvSpPr>
        <p:spPr>
          <a:xfrm>
            <a:off x="822960" y="2971800"/>
            <a:ext cx="2103120" cy="960120"/>
          </a:xfrm>
          <a:prstGeom prst="rect">
            <a:avLst/>
          </a:prstGeom>
          <a:noFill/>
          <a:ln/>
        </p:spPr>
        <p:txBody>
          <a:bodyPr wrap="square" lIns="0" tIns="0" rIns="0" bIns="0" rtlCol="0" anchor="t"/>
          <a:lstStyle/>
          <a:p>
            <a:pPr indent="0" marL="0">
              <a:buNone/>
            </a:pPr>
            <a:r>
              <a:rPr lang="en-US" sz="6000" b="1" spc="-150" kern="0" dirty="0">
                <a:solidFill>
                  <a:schemeClr val="tx2"/>
                </a:solidFill>
              </a:rPr>
              <a:t>333</a:t>
            </a:r>
            <a:endParaRPr lang="en-US" sz="6000" dirty="0"/>
          </a:p>
        </p:txBody>
      </p:sp>
      <p:sp>
        <p:nvSpPr>
          <p:cNvPr id="7" name="Text 5"/>
          <p:cNvSpPr txBox="1"/>
          <p:nvPr/>
        </p:nvSpPr>
        <p:spPr>
          <a:xfrm>
            <a:off x="822960" y="4023360"/>
            <a:ext cx="2057400" cy="868680"/>
          </a:xfrm>
          <a:prstGeom prst="rect">
            <a:avLst/>
          </a:prstGeom>
          <a:noFill/>
          <a:ln/>
        </p:spPr>
        <p:txBody>
          <a:bodyPr wrap="square" lIns="0" tIns="0" rIns="0" bIns="0" rtlCol="0" anchor="t"/>
          <a:lstStyle/>
          <a:p>
            <a:pPr indent="0" marL="0">
              <a:buNone/>
            </a:pPr>
            <a:r>
              <a:rPr lang="en-US" sz="1400" dirty="0">
                <a:solidFill>
                  <a:srgbClr val="46505C"/>
                </a:solidFill>
              </a:rPr>
              <a:t>kegiatan in the live demo, AY 2025/2026 and 2026/2027</a:t>
            </a:r>
            <a:endParaRPr lang="en-US" sz="1400" dirty="0"/>
          </a:p>
        </p:txBody>
      </p:sp>
      <p:sp>
        <p:nvSpPr>
          <p:cNvPr id="8" name="stat card"/>
          <p:cNvSpPr/>
          <p:nvPr/>
        </p:nvSpPr>
        <p:spPr>
          <a:xfrm>
            <a:off x="3337560" y="2743200"/>
            <a:ext cx="2560320" cy="2331720"/>
          </a:xfrm>
          <a:prstGeom prst="roundRect">
            <a:avLst>
              <a:gd name="adj" fmla="val 3137"/>
            </a:avLst>
          </a:prstGeom>
          <a:solidFill>
            <a:schemeClr val="bg2"/>
          </a:solidFill>
          <a:ln w="12700">
            <a:solidFill>
              <a:schemeClr val="bg2"/>
            </a:solidFill>
            <a:prstDash val="solid"/>
          </a:ln>
        </p:spPr>
      </p:sp>
      <p:sp>
        <p:nvSpPr>
          <p:cNvPr id="9" name="Text 7"/>
          <p:cNvSpPr txBox="1"/>
          <p:nvPr/>
        </p:nvSpPr>
        <p:spPr>
          <a:xfrm>
            <a:off x="3611880" y="2971800"/>
            <a:ext cx="2103120" cy="960120"/>
          </a:xfrm>
          <a:prstGeom prst="rect">
            <a:avLst/>
          </a:prstGeom>
          <a:noFill/>
          <a:ln/>
        </p:spPr>
        <p:txBody>
          <a:bodyPr wrap="square" lIns="0" tIns="0" rIns="0" bIns="0" rtlCol="0" anchor="t"/>
          <a:lstStyle/>
          <a:p>
            <a:pPr indent="0" marL="0">
              <a:buNone/>
            </a:pPr>
            <a:r>
              <a:rPr lang="en-US" sz="6000" b="1" spc="-150" kern="0" dirty="0">
                <a:solidFill>
                  <a:schemeClr val="tx2"/>
                </a:solidFill>
              </a:rPr>
              <a:t>449</a:t>
            </a:r>
            <a:endParaRPr lang="en-US" sz="6000" dirty="0"/>
          </a:p>
        </p:txBody>
      </p:sp>
      <p:sp>
        <p:nvSpPr>
          <p:cNvPr id="10" name="Text 8"/>
          <p:cNvSpPr txBox="1"/>
          <p:nvPr/>
        </p:nvSpPr>
        <p:spPr>
          <a:xfrm>
            <a:off x="3611880" y="4023360"/>
            <a:ext cx="2057400" cy="868680"/>
          </a:xfrm>
          <a:prstGeom prst="rect">
            <a:avLst/>
          </a:prstGeom>
          <a:noFill/>
          <a:ln/>
        </p:spPr>
        <p:txBody>
          <a:bodyPr wrap="square" lIns="0" tIns="0" rIns="0" bIns="0" rtlCol="0" anchor="t"/>
          <a:lstStyle/>
          <a:p>
            <a:pPr indent="0" marL="0">
              <a:buNone/>
            </a:pPr>
            <a:r>
              <a:rPr lang="en-US" sz="1400" dirty="0">
                <a:solidFill>
                  <a:srgbClr val="46505C"/>
                </a:solidFill>
              </a:rPr>
              <a:t>RENSTRA 1.1 students, Setahun 2025/2026</a:t>
            </a:r>
            <a:endParaRPr lang="en-US" sz="1400" dirty="0"/>
          </a:p>
        </p:txBody>
      </p:sp>
      <p:sp>
        <p:nvSpPr>
          <p:cNvPr id="11" name="stat card"/>
          <p:cNvSpPr/>
          <p:nvPr/>
        </p:nvSpPr>
        <p:spPr>
          <a:xfrm>
            <a:off x="6126480" y="2743200"/>
            <a:ext cx="2560320" cy="2331720"/>
          </a:xfrm>
          <a:prstGeom prst="roundRect">
            <a:avLst>
              <a:gd name="adj" fmla="val 3137"/>
            </a:avLst>
          </a:prstGeom>
          <a:solidFill>
            <a:schemeClr val="bg2"/>
          </a:solidFill>
          <a:ln w="12700">
            <a:solidFill>
              <a:schemeClr val="bg2"/>
            </a:solidFill>
            <a:prstDash val="solid"/>
          </a:ln>
        </p:spPr>
      </p:sp>
      <p:sp>
        <p:nvSpPr>
          <p:cNvPr id="12" name="Text 10"/>
          <p:cNvSpPr txBox="1"/>
          <p:nvPr/>
        </p:nvSpPr>
        <p:spPr>
          <a:xfrm>
            <a:off x="6400800" y="2971800"/>
            <a:ext cx="2103120" cy="960120"/>
          </a:xfrm>
          <a:prstGeom prst="rect">
            <a:avLst/>
          </a:prstGeom>
          <a:noFill/>
          <a:ln/>
        </p:spPr>
        <p:txBody>
          <a:bodyPr wrap="square" lIns="0" tIns="0" rIns="0" bIns="0" rtlCol="0" anchor="t"/>
          <a:lstStyle/>
          <a:p>
            <a:pPr indent="0" marL="0">
              <a:buNone/>
            </a:pPr>
            <a:r>
              <a:rPr lang="en-US" sz="6000" b="1" spc="-150" kern="0" dirty="0">
                <a:solidFill>
                  <a:schemeClr val="tx2"/>
                </a:solidFill>
              </a:rPr>
              <a:t>53</a:t>
            </a:r>
            <a:endParaRPr lang="en-US" sz="6000" dirty="0"/>
          </a:p>
        </p:txBody>
      </p:sp>
      <p:sp>
        <p:nvSpPr>
          <p:cNvPr id="13" name="Text 11"/>
          <p:cNvSpPr txBox="1"/>
          <p:nvPr/>
        </p:nvSpPr>
        <p:spPr>
          <a:xfrm>
            <a:off x="6400800" y="4023360"/>
            <a:ext cx="2057400" cy="868680"/>
          </a:xfrm>
          <a:prstGeom prst="rect">
            <a:avLst/>
          </a:prstGeom>
          <a:noFill/>
          <a:ln/>
        </p:spPr>
        <p:txBody>
          <a:bodyPr wrap="square" lIns="0" tIns="0" rIns="0" bIns="0" rtlCol="0" anchor="t"/>
          <a:lstStyle/>
          <a:p>
            <a:pPr indent="0" marL="0">
              <a:buNone/>
            </a:pPr>
            <a:r>
              <a:rPr lang="en-US" sz="1400" dirty="0">
                <a:solidFill>
                  <a:srgbClr val="46505C"/>
                </a:solidFill>
              </a:rPr>
              <a:t>RENSTRA 1.1 students so far, YTD 2026/2027</a:t>
            </a:r>
            <a:endParaRPr lang="en-US" sz="1400" dirty="0"/>
          </a:p>
        </p:txBody>
      </p:sp>
      <p:sp>
        <p:nvSpPr>
          <p:cNvPr id="14" name="stat card"/>
          <p:cNvSpPr/>
          <p:nvPr/>
        </p:nvSpPr>
        <p:spPr>
          <a:xfrm>
            <a:off x="8915400" y="2743200"/>
            <a:ext cx="2560320" cy="2331720"/>
          </a:xfrm>
          <a:prstGeom prst="roundRect">
            <a:avLst>
              <a:gd name="adj" fmla="val 3137"/>
            </a:avLst>
          </a:prstGeom>
          <a:solidFill>
            <a:schemeClr val="bg2"/>
          </a:solidFill>
          <a:ln w="12700">
            <a:solidFill>
              <a:schemeClr val="bg2"/>
            </a:solidFill>
            <a:prstDash val="solid"/>
          </a:ln>
        </p:spPr>
      </p:sp>
      <p:sp>
        <p:nvSpPr>
          <p:cNvPr id="15" name="Text 13"/>
          <p:cNvSpPr txBox="1"/>
          <p:nvPr/>
        </p:nvSpPr>
        <p:spPr>
          <a:xfrm>
            <a:off x="9189720" y="2971800"/>
            <a:ext cx="2103120" cy="960120"/>
          </a:xfrm>
          <a:prstGeom prst="rect">
            <a:avLst/>
          </a:prstGeom>
          <a:noFill/>
          <a:ln/>
        </p:spPr>
        <p:txBody>
          <a:bodyPr wrap="square" lIns="0" tIns="0" rIns="0" bIns="0" rtlCol="0" anchor="t"/>
          <a:lstStyle/>
          <a:p>
            <a:pPr indent="0" marL="0">
              <a:buNone/>
            </a:pPr>
            <a:r>
              <a:rPr lang="en-US" sz="6000" b="1" spc="-150" kern="0" dirty="0">
                <a:solidFill>
                  <a:schemeClr val="tx2"/>
                </a:solidFill>
              </a:rPr>
              <a:t>5</a:t>
            </a:r>
            <a:endParaRPr lang="en-US" sz="6000" dirty="0"/>
          </a:p>
        </p:txBody>
      </p:sp>
      <p:sp>
        <p:nvSpPr>
          <p:cNvPr id="16" name="Text 14"/>
          <p:cNvSpPr txBox="1"/>
          <p:nvPr/>
        </p:nvSpPr>
        <p:spPr>
          <a:xfrm>
            <a:off x="9189720" y="4023360"/>
            <a:ext cx="2057400" cy="868680"/>
          </a:xfrm>
          <a:prstGeom prst="rect">
            <a:avLst/>
          </a:prstGeom>
          <a:noFill/>
          <a:ln/>
        </p:spPr>
        <p:txBody>
          <a:bodyPr wrap="square" lIns="0" tIns="0" rIns="0" bIns="0" rtlCol="0" anchor="t"/>
          <a:lstStyle/>
          <a:p>
            <a:pPr indent="0" marL="0">
              <a:buNone/>
            </a:pPr>
            <a:r>
              <a:rPr lang="en-US" sz="1400" dirty="0">
                <a:solidFill>
                  <a:srgbClr val="46505C"/>
                </a:solidFill>
              </a:rPr>
              <a:t>indicators: 1.1, 1.1.a, 1.1.b, 1.19.S1, 1.19.S4</a:t>
            </a:r>
            <a:endParaRPr lang="en-US" sz="1400" dirty="0"/>
          </a:p>
        </p:txBody>
      </p:sp>
      <p:sp>
        <p:nvSpPr>
          <p:cNvPr id="17" name="Text 15"/>
          <p:cNvSpPr txBox="1"/>
          <p:nvPr/>
        </p:nvSpPr>
        <p:spPr>
          <a:xfrm>
            <a:off x="548640" y="5394960"/>
            <a:ext cx="10607040" cy="548640"/>
          </a:xfrm>
          <a:prstGeom prst="rect">
            <a:avLst/>
          </a:prstGeom>
          <a:noFill/>
          <a:ln/>
        </p:spPr>
        <p:txBody>
          <a:bodyPr wrap="square" lIns="0" tIns="0" rIns="0" bIns="0" rtlCol="0" anchor="t"/>
          <a:lstStyle/>
          <a:p>
            <a:pPr indent="0" marL="0">
              <a:buNone/>
            </a:pPr>
            <a:r>
              <a:rPr lang="en-US" sz="1200" dirty="0">
                <a:solidFill>
                  <a:srgbClr val="5F6B78"/>
                </a:solidFill>
              </a:rPr>
              <a:t>Figures from the imports into the SIM Kerjasama Supabase project on 3–4 Oct 2026. The data is a generated demo set over the real agreements and units, not real activities yet.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WHY</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From scattered reports to numbers we can defend</a:t>
            </a:r>
            <a:endParaRPr lang="en-US" sz="3200" dirty="0"/>
          </a:p>
        </p:txBody>
      </p:sp>
      <p:sp>
        <p:nvSpPr>
          <p:cNvPr id="4" name="today card"/>
          <p:cNvSpPr/>
          <p:nvPr/>
        </p:nvSpPr>
        <p:spPr>
          <a:xfrm>
            <a:off x="548640" y="1645920"/>
            <a:ext cx="5257800" cy="4343400"/>
          </a:xfrm>
          <a:prstGeom prst="roundRect">
            <a:avLst>
              <a:gd name="adj" fmla="val 1684"/>
            </a:avLst>
          </a:prstGeom>
          <a:solidFill>
            <a:schemeClr val="bg2"/>
          </a:solidFill>
          <a:ln w="12700">
            <a:solidFill>
              <a:schemeClr val="bg2"/>
            </a:solidFill>
            <a:prstDash val="solid"/>
          </a:ln>
        </p:spPr>
      </p:sp>
      <p:sp>
        <p:nvSpPr>
          <p:cNvPr id="5" name="Text 3"/>
          <p:cNvSpPr txBox="1"/>
          <p:nvPr/>
        </p:nvSpPr>
        <p:spPr>
          <a:xfrm>
            <a:off x="868680" y="1920240"/>
            <a:ext cx="4572000" cy="411480"/>
          </a:xfrm>
          <a:prstGeom prst="rect">
            <a:avLst/>
          </a:prstGeom>
          <a:noFill/>
          <a:ln/>
        </p:spPr>
        <p:txBody>
          <a:bodyPr wrap="square" lIns="0" tIns="0" rIns="0" bIns="0" rtlCol="0" anchor="t"/>
          <a:lstStyle/>
          <a:p>
            <a:pPr indent="0" marL="0">
              <a:buNone/>
            </a:pPr>
            <a:r>
              <a:rPr lang="en-US" sz="2000" b="1" dirty="0">
                <a:solidFill>
                  <a:schemeClr val="tx2"/>
                </a:solidFill>
              </a:rPr>
              <a:t>Today</a:t>
            </a:r>
            <a:endParaRPr lang="en-US" sz="2000" dirty="0"/>
          </a:p>
        </p:txBody>
      </p:sp>
      <p:sp>
        <p:nvSpPr>
          <p:cNvPr id="6" name="Text 4"/>
          <p:cNvSpPr txBox="1"/>
          <p:nvPr/>
        </p:nvSpPr>
        <p:spPr>
          <a:xfrm>
            <a:off x="868680" y="2468880"/>
            <a:ext cx="4663440" cy="32918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Realizations arrive as reports, emails and spreadsheets from each unit.</a:t>
            </a:r>
            <a:endParaRPr lang="en-US" sz="1500" dirty="0"/>
          </a:p>
          <a:p>
            <a:pPr marL="177800" indent="-177800">
              <a:spcAft>
                <a:spcPts val="600"/>
              </a:spcAft>
              <a:buSzPct val="100000"/>
              <a:buChar char="•"/>
            </a:pPr>
            <a:r>
              <a:rPr lang="en-US" sz="1500" dirty="0">
                <a:solidFill>
                  <a:schemeClr val="tx1"/>
                </a:solidFill>
              </a:rPr>
              <a:t>Counting inbound and outbound students and international activities needs manual reconciliation every semester.</a:t>
            </a:r>
            <a:endParaRPr lang="en-US" sz="1500" dirty="0"/>
          </a:p>
          <a:p>
            <a:pPr marL="177800" indent="-177800">
              <a:spcAft>
                <a:spcPts val="600"/>
              </a:spcAft>
              <a:buSzPct val="100000"/>
              <a:buChar char="•"/>
            </a:pPr>
            <a:r>
              <a:rPr lang="en-US" sz="1500" dirty="0">
                <a:solidFill>
                  <a:schemeClr val="tx1"/>
                </a:solidFill>
              </a:rPr>
              <a:t>Last semester's numbers can shift when late reports arrive.</a:t>
            </a:r>
            <a:endParaRPr lang="en-US" sz="1500" dirty="0"/>
          </a:p>
          <a:p>
            <a:pPr marL="177800" indent="-177800">
              <a:spcAft>
                <a:spcPts val="600"/>
              </a:spcAft>
              <a:buSzPct val="100000"/>
              <a:buChar char="•"/>
            </a:pPr>
            <a:r>
              <a:rPr lang="en-US" sz="1500" dirty="0">
                <a:solidFill>
                  <a:schemeClr val="tx1"/>
                </a:solidFill>
              </a:rPr>
              <a:t>Nobody can show which agreements were actually used.</a:t>
            </a:r>
            <a:endParaRPr lang="en-US" sz="1500" dirty="0"/>
          </a:p>
        </p:txBody>
      </p:sp>
      <p:sp>
        <p:nvSpPr>
          <p:cNvPr id="7" name="with card"/>
          <p:cNvSpPr/>
          <p:nvPr/>
        </p:nvSpPr>
        <p:spPr>
          <a:xfrm>
            <a:off x="6355080" y="1645920"/>
            <a:ext cx="5285232" cy="4343400"/>
          </a:xfrm>
          <a:prstGeom prst="roundRect">
            <a:avLst>
              <a:gd name="adj" fmla="val 1684"/>
            </a:avLst>
          </a:prstGeom>
          <a:solidFill>
            <a:schemeClr val="tx2"/>
          </a:solidFill>
          <a:ln w="12700">
            <a:solidFill>
              <a:schemeClr val="tx2"/>
            </a:solidFill>
            <a:prstDash val="solid"/>
          </a:ln>
        </p:spPr>
      </p:sp>
      <p:sp>
        <p:nvSpPr>
          <p:cNvPr id="8" name="Text 6"/>
          <p:cNvSpPr txBox="1"/>
          <p:nvPr/>
        </p:nvSpPr>
        <p:spPr>
          <a:xfrm>
            <a:off x="6675120" y="1920240"/>
            <a:ext cx="4572000" cy="411480"/>
          </a:xfrm>
          <a:prstGeom prst="rect">
            <a:avLst/>
          </a:prstGeom>
          <a:noFill/>
          <a:ln/>
        </p:spPr>
        <p:txBody>
          <a:bodyPr wrap="square" lIns="0" tIns="0" rIns="0" bIns="0" rtlCol="0" anchor="t"/>
          <a:lstStyle/>
          <a:p>
            <a:pPr indent="0" marL="0">
              <a:buNone/>
            </a:pPr>
            <a:r>
              <a:rPr lang="en-US" sz="2000" b="1" dirty="0">
                <a:solidFill>
                  <a:schemeClr val="bg1"/>
                </a:solidFill>
              </a:rPr>
              <a:t>With SIM Realisasi</a:t>
            </a:r>
            <a:endParaRPr lang="en-US" sz="2000" dirty="0"/>
          </a:p>
        </p:txBody>
      </p:sp>
      <p:sp>
        <p:nvSpPr>
          <p:cNvPr id="9" name="Text 7"/>
          <p:cNvSpPr txBox="1"/>
          <p:nvPr/>
        </p:nvSpPr>
        <p:spPr>
          <a:xfrm>
            <a:off x="6675120" y="2468880"/>
            <a:ext cx="4663440" cy="32918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bg1"/>
                </a:solidFill>
              </a:rPr>
              <a:t>Each academic unit reports its own kegiatan on one page, with IA, IR and participants.</a:t>
            </a:r>
            <a:endParaRPr lang="en-US" sz="1500" dirty="0"/>
          </a:p>
          <a:p>
            <a:pPr marL="177800" indent="-177800">
              <a:spcAft>
                <a:spcPts val="600"/>
              </a:spcAft>
              <a:buSzPct val="100000"/>
              <a:buChar char="•"/>
            </a:pPr>
            <a:r>
              <a:rPr lang="en-US" sz="1500" dirty="0">
                <a:solidFill>
                  <a:schemeClr val="bg1"/>
                </a:solidFill>
              </a:rPr>
              <a:t>Student numbers are checked against BAAK; no student is counted twice across units.</a:t>
            </a:r>
            <a:endParaRPr lang="en-US" sz="1500" dirty="0"/>
          </a:p>
          <a:p>
            <a:pPr marL="177800" indent="-177800">
              <a:spcAft>
                <a:spcPts val="600"/>
              </a:spcAft>
              <a:buSzPct val="100000"/>
              <a:buChar char="•"/>
            </a:pPr>
            <a:r>
              <a:rPr lang="en-US" sz="1500" dirty="0">
                <a:solidFill>
                  <a:schemeClr val="bg1"/>
                </a:solidFill>
              </a:rPr>
              <a:t>The database computes every number from verified data and freezes each semester on its cutoff.</a:t>
            </a:r>
            <a:endParaRPr lang="en-US" sz="1500" dirty="0"/>
          </a:p>
          <a:p>
            <a:pPr marL="177800" indent="-177800">
              <a:spcAft>
                <a:spcPts val="600"/>
              </a:spcAft>
              <a:buSzPct val="100000"/>
              <a:buChar char="•"/>
            </a:pPr>
            <a:r>
              <a:rPr lang="en-US" sz="1500" dirty="0">
                <a:solidFill>
                  <a:schemeClr val="bg1"/>
                </a:solidFill>
              </a:rPr>
              <a:t>Every report downloads as Excel and drills down to the kegiatan behind 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CORE IDEAS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Six terms the whole system is built on</a:t>
            </a:r>
            <a:endParaRPr lang="en-US" sz="3200" dirty="0"/>
          </a:p>
        </p:txBody>
      </p:sp>
      <p:sp>
        <p:nvSpPr>
          <p:cNvPr id="4" name="term card"/>
          <p:cNvSpPr/>
          <p:nvPr/>
        </p:nvSpPr>
        <p:spPr>
          <a:xfrm>
            <a:off x="548640" y="1645920"/>
            <a:ext cx="3520440" cy="2011680"/>
          </a:xfrm>
          <a:prstGeom prst="roundRect">
            <a:avLst>
              <a:gd name="adj" fmla="val 3636"/>
            </a:avLst>
          </a:prstGeom>
          <a:solidFill>
            <a:schemeClr val="bg2"/>
          </a:solidFill>
          <a:ln w="12700">
            <a:solidFill>
              <a:schemeClr val="bg2"/>
            </a:solidFill>
            <a:prstDash val="solid"/>
          </a:ln>
        </p:spPr>
      </p:sp>
      <p:sp>
        <p:nvSpPr>
          <p:cNvPr id="5" name="Shape 3"/>
          <p:cNvSpPr/>
          <p:nvPr/>
        </p:nvSpPr>
        <p:spPr>
          <a:xfrm>
            <a:off x="822960" y="1984248"/>
            <a:ext cx="146304" cy="146304"/>
          </a:xfrm>
          <a:prstGeom prst="ellipse">
            <a:avLst/>
          </a:prstGeom>
          <a:solidFill>
            <a:schemeClr val="accent1"/>
          </a:solidFill>
          <a:ln w="12700">
            <a:solidFill>
              <a:schemeClr val="accent1"/>
            </a:solidFill>
            <a:prstDash val="solid"/>
          </a:ln>
        </p:spPr>
      </p:sp>
      <p:sp>
        <p:nvSpPr>
          <p:cNvPr id="6" name="Text 4"/>
          <p:cNvSpPr txBox="1"/>
          <p:nvPr/>
        </p:nvSpPr>
        <p:spPr>
          <a:xfrm>
            <a:off x="1097280" y="18745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Kegiatan</a:t>
            </a:r>
            <a:endParaRPr lang="en-US" sz="1800" dirty="0"/>
          </a:p>
        </p:txBody>
      </p:sp>
      <p:sp>
        <p:nvSpPr>
          <p:cNvPr id="7" name="Text 5"/>
          <p:cNvSpPr txBox="1"/>
          <p:nvPr/>
        </p:nvSpPr>
        <p:spPr>
          <a:xfrm>
            <a:off x="822960" y="2377440"/>
            <a:ext cx="3017520" cy="1188720"/>
          </a:xfrm>
          <a:prstGeom prst="rect">
            <a:avLst/>
          </a:prstGeom>
          <a:noFill/>
          <a:ln/>
        </p:spPr>
        <p:txBody>
          <a:bodyPr wrap="square" lIns="0" tIns="0" rIns="0" bIns="0" rtlCol="0" anchor="t"/>
          <a:lstStyle/>
          <a:p>
            <a:pPr indent="0" marL="0">
              <a:buNone/>
            </a:pPr>
            <a:r>
              <a:rPr lang="en-US" sz="1400" dirty="0">
                <a:solidFill>
                  <a:schemeClr val="tx1"/>
                </a:solidFill>
              </a:rPr>
              <a:t>One realization of one agreement, documented by exactly one IA and one IR. A multi-round programme reports one kegiatan per round.</a:t>
            </a:r>
            <a:endParaRPr lang="en-US" sz="1400" dirty="0"/>
          </a:p>
        </p:txBody>
      </p:sp>
      <p:sp>
        <p:nvSpPr>
          <p:cNvPr id="8" name="term card"/>
          <p:cNvSpPr/>
          <p:nvPr/>
        </p:nvSpPr>
        <p:spPr>
          <a:xfrm>
            <a:off x="4270248" y="1645920"/>
            <a:ext cx="3520440" cy="2011680"/>
          </a:xfrm>
          <a:prstGeom prst="roundRect">
            <a:avLst>
              <a:gd name="adj" fmla="val 3636"/>
            </a:avLst>
          </a:prstGeom>
          <a:solidFill>
            <a:schemeClr val="bg2"/>
          </a:solidFill>
          <a:ln w="12700">
            <a:solidFill>
              <a:schemeClr val="bg2"/>
            </a:solidFill>
            <a:prstDash val="solid"/>
          </a:ln>
        </p:spPr>
      </p:sp>
      <p:sp>
        <p:nvSpPr>
          <p:cNvPr id="9" name="Shape 7"/>
          <p:cNvSpPr/>
          <p:nvPr/>
        </p:nvSpPr>
        <p:spPr>
          <a:xfrm>
            <a:off x="4544568" y="1984248"/>
            <a:ext cx="146304" cy="146304"/>
          </a:xfrm>
          <a:prstGeom prst="ellipse">
            <a:avLst/>
          </a:prstGeom>
          <a:solidFill>
            <a:schemeClr val="accent1"/>
          </a:solidFill>
          <a:ln w="12700">
            <a:solidFill>
              <a:schemeClr val="accent1"/>
            </a:solidFill>
            <a:prstDash val="solid"/>
          </a:ln>
        </p:spPr>
      </p:sp>
      <p:sp>
        <p:nvSpPr>
          <p:cNvPr id="10" name="Text 8"/>
          <p:cNvSpPr txBox="1"/>
          <p:nvPr/>
        </p:nvSpPr>
        <p:spPr>
          <a:xfrm>
            <a:off x="4818888" y="18745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Kerja sama</a:t>
            </a:r>
            <a:endParaRPr lang="en-US" sz="1800" dirty="0"/>
          </a:p>
        </p:txBody>
      </p:sp>
      <p:sp>
        <p:nvSpPr>
          <p:cNvPr id="11" name="Text 9"/>
          <p:cNvSpPr txBox="1"/>
          <p:nvPr/>
        </p:nvSpPr>
        <p:spPr>
          <a:xfrm>
            <a:off x="4544568" y="2377440"/>
            <a:ext cx="3017520" cy="1188720"/>
          </a:xfrm>
          <a:prstGeom prst="rect">
            <a:avLst/>
          </a:prstGeom>
          <a:noFill/>
          <a:ln/>
        </p:spPr>
        <p:txBody>
          <a:bodyPr wrap="square" lIns="0" tIns="0" rIns="0" bIns="0" rtlCol="0" anchor="t"/>
          <a:lstStyle/>
          <a:p>
            <a:pPr indent="0" marL="0">
              <a:buNone/>
            </a:pPr>
            <a:r>
              <a:rPr lang="en-US" sz="1400" dirty="0">
                <a:solidFill>
                  <a:schemeClr val="tx1"/>
                </a:solidFill>
              </a:rPr>
              <a:t>The single MoU or MoA the kegiatan implements, chosen from SIM Kerjasama documents valid on the kegiatan dates.</a:t>
            </a:r>
            <a:endParaRPr lang="en-US" sz="1400" dirty="0"/>
          </a:p>
        </p:txBody>
      </p:sp>
      <p:sp>
        <p:nvSpPr>
          <p:cNvPr id="12" name="term card"/>
          <p:cNvSpPr/>
          <p:nvPr/>
        </p:nvSpPr>
        <p:spPr>
          <a:xfrm>
            <a:off x="7991856" y="1645920"/>
            <a:ext cx="3520440" cy="2011680"/>
          </a:xfrm>
          <a:prstGeom prst="roundRect">
            <a:avLst>
              <a:gd name="adj" fmla="val 3636"/>
            </a:avLst>
          </a:prstGeom>
          <a:solidFill>
            <a:schemeClr val="bg2"/>
          </a:solidFill>
          <a:ln w="12700">
            <a:solidFill>
              <a:schemeClr val="bg2"/>
            </a:solidFill>
            <a:prstDash val="solid"/>
          </a:ln>
        </p:spPr>
      </p:sp>
      <p:sp>
        <p:nvSpPr>
          <p:cNvPr id="13" name="Shape 11"/>
          <p:cNvSpPr/>
          <p:nvPr/>
        </p:nvSpPr>
        <p:spPr>
          <a:xfrm>
            <a:off x="8266176" y="1984248"/>
            <a:ext cx="146304" cy="146304"/>
          </a:xfrm>
          <a:prstGeom prst="ellipse">
            <a:avLst/>
          </a:prstGeom>
          <a:solidFill>
            <a:schemeClr val="accent1"/>
          </a:solidFill>
          <a:ln w="12700">
            <a:solidFill>
              <a:schemeClr val="accent1"/>
            </a:solidFill>
            <a:prstDash val="solid"/>
          </a:ln>
        </p:spPr>
      </p:sp>
      <p:sp>
        <p:nvSpPr>
          <p:cNvPr id="14" name="Text 12"/>
          <p:cNvSpPr txBox="1"/>
          <p:nvPr/>
        </p:nvSpPr>
        <p:spPr>
          <a:xfrm>
            <a:off x="8540496" y="18745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Renewal chain</a:t>
            </a:r>
            <a:endParaRPr lang="en-US" sz="1800" dirty="0"/>
          </a:p>
        </p:txBody>
      </p:sp>
      <p:sp>
        <p:nvSpPr>
          <p:cNvPr id="15" name="Text 13"/>
          <p:cNvSpPr txBox="1"/>
          <p:nvPr/>
        </p:nvSpPr>
        <p:spPr>
          <a:xfrm>
            <a:off x="8266176" y="2377440"/>
            <a:ext cx="3017520" cy="1188720"/>
          </a:xfrm>
          <a:prstGeom prst="rect">
            <a:avLst/>
          </a:prstGeom>
          <a:noFill/>
          <a:ln/>
        </p:spPr>
        <p:txBody>
          <a:bodyPr wrap="square" lIns="0" tIns="0" rIns="0" bIns="0" rtlCol="0" anchor="t"/>
          <a:lstStyle/>
          <a:p>
            <a:pPr indent="0" marL="0">
              <a:buNone/>
            </a:pPr>
            <a:r>
              <a:rPr lang="en-US" sz="1400" dirty="0">
                <a:solidFill>
                  <a:schemeClr val="tx1"/>
                </a:solidFill>
              </a:rPr>
              <a:t>An agreement plus all its renewals. 1.19.S4 counts chains, so a renewal mid-year is counted once.</a:t>
            </a:r>
            <a:endParaRPr lang="en-US" sz="1400" dirty="0"/>
          </a:p>
        </p:txBody>
      </p:sp>
      <p:sp>
        <p:nvSpPr>
          <p:cNvPr id="16" name="term card"/>
          <p:cNvSpPr/>
          <p:nvPr/>
        </p:nvSpPr>
        <p:spPr>
          <a:xfrm>
            <a:off x="548640" y="3886200"/>
            <a:ext cx="3520440" cy="2011680"/>
          </a:xfrm>
          <a:prstGeom prst="roundRect">
            <a:avLst>
              <a:gd name="adj" fmla="val 3636"/>
            </a:avLst>
          </a:prstGeom>
          <a:solidFill>
            <a:schemeClr val="bg2"/>
          </a:solidFill>
          <a:ln w="12700">
            <a:solidFill>
              <a:schemeClr val="bg2"/>
            </a:solidFill>
            <a:prstDash val="solid"/>
          </a:ln>
        </p:spPr>
      </p:sp>
      <p:sp>
        <p:nvSpPr>
          <p:cNvPr id="17" name="Shape 15"/>
          <p:cNvSpPr/>
          <p:nvPr/>
        </p:nvSpPr>
        <p:spPr>
          <a:xfrm>
            <a:off x="822960" y="4224528"/>
            <a:ext cx="146304" cy="146304"/>
          </a:xfrm>
          <a:prstGeom prst="ellipse">
            <a:avLst/>
          </a:prstGeom>
          <a:solidFill>
            <a:schemeClr val="accent1"/>
          </a:solidFill>
          <a:ln w="12700">
            <a:solidFill>
              <a:schemeClr val="accent1"/>
            </a:solidFill>
            <a:prstDash val="solid"/>
          </a:ln>
        </p:spPr>
      </p:sp>
      <p:sp>
        <p:nvSpPr>
          <p:cNvPr id="18" name="Text 16"/>
          <p:cNvSpPr txBox="1"/>
          <p:nvPr/>
        </p:nvSpPr>
        <p:spPr>
          <a:xfrm>
            <a:off x="1097280" y="4114800"/>
            <a:ext cx="2743200" cy="365760"/>
          </a:xfrm>
          <a:prstGeom prst="rect">
            <a:avLst/>
          </a:prstGeom>
          <a:noFill/>
          <a:ln/>
        </p:spPr>
        <p:txBody>
          <a:bodyPr wrap="square" lIns="0" tIns="0" rIns="0" bIns="0" rtlCol="0" anchor="t"/>
          <a:lstStyle/>
          <a:p>
            <a:pPr indent="0" marL="0">
              <a:buNone/>
            </a:pPr>
            <a:r>
              <a:rPr lang="en-US" sz="1800" b="1" dirty="0">
                <a:solidFill>
                  <a:schemeClr val="tx2"/>
                </a:solidFill>
              </a:rPr>
              <a:t>Jenis Kegiatan</a:t>
            </a:r>
            <a:endParaRPr lang="en-US" sz="1800" dirty="0"/>
          </a:p>
        </p:txBody>
      </p:sp>
      <p:sp>
        <p:nvSpPr>
          <p:cNvPr id="19" name="Text 17"/>
          <p:cNvSpPr txBox="1"/>
          <p:nvPr/>
        </p:nvSpPr>
        <p:spPr>
          <a:xfrm>
            <a:off x="822960" y="4617720"/>
            <a:ext cx="3017520" cy="1188720"/>
          </a:xfrm>
          <a:prstGeom prst="rect">
            <a:avLst/>
          </a:prstGeom>
          <a:noFill/>
          <a:ln/>
        </p:spPr>
        <p:txBody>
          <a:bodyPr wrap="square" lIns="0" tIns="0" rIns="0" bIns="0" rtlCol="0" anchor="t"/>
          <a:lstStyle/>
          <a:p>
            <a:pPr indent="0" marL="0">
              <a:buNone/>
            </a:pPr>
            <a:r>
              <a:rPr lang="en-US" sz="1400" dirty="0">
                <a:solidFill>
                  <a:schemeClr val="tx1"/>
                </a:solidFill>
              </a:rPr>
              <a:t>The Agenda Kerjasama list. KUI decides per agenda whether it is mobility and whether it counts for 1.19.S1.</a:t>
            </a:r>
            <a:endParaRPr lang="en-US" sz="1400" dirty="0"/>
          </a:p>
        </p:txBody>
      </p:sp>
      <p:sp>
        <p:nvSpPr>
          <p:cNvPr id="20" name="term card"/>
          <p:cNvSpPr/>
          <p:nvPr/>
        </p:nvSpPr>
        <p:spPr>
          <a:xfrm>
            <a:off x="4270248" y="3886200"/>
            <a:ext cx="3520440" cy="2011680"/>
          </a:xfrm>
          <a:prstGeom prst="roundRect">
            <a:avLst>
              <a:gd name="adj" fmla="val 3636"/>
            </a:avLst>
          </a:prstGeom>
          <a:solidFill>
            <a:schemeClr val="bg2"/>
          </a:solidFill>
          <a:ln w="12700">
            <a:solidFill>
              <a:schemeClr val="bg2"/>
            </a:solidFill>
            <a:prstDash val="solid"/>
          </a:ln>
        </p:spPr>
      </p:sp>
      <p:sp>
        <p:nvSpPr>
          <p:cNvPr id="21" name="Shape 19"/>
          <p:cNvSpPr/>
          <p:nvPr/>
        </p:nvSpPr>
        <p:spPr>
          <a:xfrm>
            <a:off x="4544568" y="4224528"/>
            <a:ext cx="146304" cy="146304"/>
          </a:xfrm>
          <a:prstGeom prst="ellipse">
            <a:avLst/>
          </a:prstGeom>
          <a:solidFill>
            <a:schemeClr val="accent1"/>
          </a:solidFill>
          <a:ln w="12700">
            <a:solidFill>
              <a:schemeClr val="accent1"/>
            </a:solidFill>
            <a:prstDash val="solid"/>
          </a:ln>
        </p:spPr>
      </p:sp>
      <p:sp>
        <p:nvSpPr>
          <p:cNvPr id="22" name="Text 20"/>
          <p:cNvSpPr txBox="1"/>
          <p:nvPr/>
        </p:nvSpPr>
        <p:spPr>
          <a:xfrm>
            <a:off x="4818888" y="4114800"/>
            <a:ext cx="2743200" cy="365760"/>
          </a:xfrm>
          <a:prstGeom prst="rect">
            <a:avLst/>
          </a:prstGeom>
          <a:noFill/>
          <a:ln/>
        </p:spPr>
        <p:txBody>
          <a:bodyPr wrap="square" lIns="0" tIns="0" rIns="0" bIns="0" rtlCol="0" anchor="t"/>
          <a:lstStyle/>
          <a:p>
            <a:pPr indent="0" marL="0">
              <a:buNone/>
            </a:pPr>
            <a:r>
              <a:rPr lang="en-US" sz="1800" b="1" dirty="0">
                <a:solidFill>
                  <a:schemeClr val="tx2"/>
                </a:solidFill>
              </a:rPr>
              <a:t>Mobility kegiatan</a:t>
            </a:r>
            <a:endParaRPr lang="en-US" sz="1800" dirty="0"/>
          </a:p>
        </p:txBody>
      </p:sp>
      <p:sp>
        <p:nvSpPr>
          <p:cNvPr id="23" name="Text 21"/>
          <p:cNvSpPr txBox="1"/>
          <p:nvPr/>
        </p:nvSpPr>
        <p:spPr>
          <a:xfrm>
            <a:off x="4544568" y="4617720"/>
            <a:ext cx="3017520" cy="1188720"/>
          </a:xfrm>
          <a:prstGeom prst="rect">
            <a:avLst/>
          </a:prstGeom>
          <a:noFill/>
          <a:ln/>
        </p:spPr>
        <p:txBody>
          <a:bodyPr wrap="square" lIns="0" tIns="0" rIns="0" bIns="0" rtlCol="0" anchor="t"/>
          <a:lstStyle/>
          <a:p>
            <a:pPr indent="0" marL="0">
              <a:buNone/>
            </a:pPr>
            <a:r>
              <a:rPr lang="en-US" sz="1400" dirty="0">
                <a:solidFill>
                  <a:schemeClr val="tx1"/>
                </a:solidFill>
              </a:rPr>
              <a:t>Needs participants and one PDF of transcripts, poster and documentation; verified by KUI. Others are verified on submit.</a:t>
            </a:r>
            <a:endParaRPr lang="en-US" sz="1400" dirty="0"/>
          </a:p>
        </p:txBody>
      </p:sp>
      <p:sp>
        <p:nvSpPr>
          <p:cNvPr id="24" name="term card"/>
          <p:cNvSpPr/>
          <p:nvPr/>
        </p:nvSpPr>
        <p:spPr>
          <a:xfrm>
            <a:off x="7991856" y="3886200"/>
            <a:ext cx="3520440" cy="2011680"/>
          </a:xfrm>
          <a:prstGeom prst="roundRect">
            <a:avLst>
              <a:gd name="adj" fmla="val 3636"/>
            </a:avLst>
          </a:prstGeom>
          <a:solidFill>
            <a:schemeClr val="bg2"/>
          </a:solidFill>
          <a:ln w="12700">
            <a:solidFill>
              <a:schemeClr val="bg2"/>
            </a:solidFill>
            <a:prstDash val="solid"/>
          </a:ln>
        </p:spPr>
      </p:sp>
      <p:sp>
        <p:nvSpPr>
          <p:cNvPr id="25" name="Shape 23"/>
          <p:cNvSpPr/>
          <p:nvPr/>
        </p:nvSpPr>
        <p:spPr>
          <a:xfrm>
            <a:off x="8266176" y="4224528"/>
            <a:ext cx="146304" cy="146304"/>
          </a:xfrm>
          <a:prstGeom prst="ellipse">
            <a:avLst/>
          </a:prstGeom>
          <a:solidFill>
            <a:schemeClr val="accent1"/>
          </a:solidFill>
          <a:ln w="12700">
            <a:solidFill>
              <a:schemeClr val="accent1"/>
            </a:solidFill>
            <a:prstDash val="solid"/>
          </a:ln>
        </p:spPr>
      </p:sp>
      <p:sp>
        <p:nvSpPr>
          <p:cNvPr id="26" name="Text 24"/>
          <p:cNvSpPr txBox="1"/>
          <p:nvPr/>
        </p:nvSpPr>
        <p:spPr>
          <a:xfrm>
            <a:off x="8540496" y="4114800"/>
            <a:ext cx="2743200" cy="365760"/>
          </a:xfrm>
          <a:prstGeom prst="rect">
            <a:avLst/>
          </a:prstGeom>
          <a:noFill/>
          <a:ln/>
        </p:spPr>
        <p:txBody>
          <a:bodyPr wrap="square" lIns="0" tIns="0" rIns="0" bIns="0" rtlCol="0" anchor="t"/>
          <a:lstStyle/>
          <a:p>
            <a:pPr indent="0" marL="0">
              <a:buNone/>
            </a:pPr>
            <a:r>
              <a:rPr lang="en-US" sz="1800" b="1" dirty="0">
                <a:solidFill>
                  <a:schemeClr val="tx2"/>
                </a:solidFill>
              </a:rPr>
              <a:t>Snapshot</a:t>
            </a:r>
            <a:endParaRPr lang="en-US" sz="1800" dirty="0"/>
          </a:p>
        </p:txBody>
      </p:sp>
      <p:sp>
        <p:nvSpPr>
          <p:cNvPr id="27" name="Text 25"/>
          <p:cNvSpPr txBox="1"/>
          <p:nvPr/>
        </p:nvSpPr>
        <p:spPr>
          <a:xfrm>
            <a:off x="8266176" y="4617720"/>
            <a:ext cx="3017520" cy="1188720"/>
          </a:xfrm>
          <a:prstGeom prst="rect">
            <a:avLst/>
          </a:prstGeom>
          <a:noFill/>
          <a:ln/>
        </p:spPr>
        <p:txBody>
          <a:bodyPr wrap="square" lIns="0" tIns="0" rIns="0" bIns="0" rtlCol="0" anchor="t"/>
          <a:lstStyle/>
          <a:p>
            <a:pPr indent="0" marL="0">
              <a:buNone/>
            </a:pPr>
            <a:r>
              <a:rPr lang="en-US" sz="1400" dirty="0">
                <a:solidFill>
                  <a:schemeClr val="tx1"/>
                </a:solidFill>
              </a:rPr>
              <a:t>The frozen indicator values of a semester, with the IDs of every record behind them and the settings used.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USERS AND ACCESS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Who can do what</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206240"/>
                <a:gridCol w="2377440"/>
                <a:gridCol w="2377440"/>
                <a:gridCol w="2103120"/>
              </a:tblGrid>
              <a:tr h="429768">
                <a:tc>
                  <a:txBody>
                    <a:bodyPr/>
                    <a:lstStyle/>
                    <a:p>
                      <a:pPr indent="0" marL="0">
                        <a:buNone/>
                      </a:pPr>
                      <a:r>
                        <a:rPr lang="en-US" sz="1300" b="1" dirty="0">
                          <a:solidFill>
                            <a:schemeClr val="bg1"/>
                          </a:solidFill>
                          <a:latin typeface="Inter" pitchFamily="34" charset="0"/>
                          <a:ea typeface="Inter" pitchFamily="34" charset="-122"/>
                          <a:cs typeface="Inter" pitchFamily="34" charset="-120"/>
                        </a:rPr>
                        <a:t>Action</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Inter" pitchFamily="34" charset="0"/>
                          <a:ea typeface="Inter" pitchFamily="34" charset="-122"/>
                          <a:cs typeface="Inter" pitchFamily="34" charset="-120"/>
                        </a:rPr>
                        <a:t>Unit (submitter)</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Inter" pitchFamily="34" charset="0"/>
                          <a:ea typeface="Inter" pitchFamily="34" charset="-122"/>
                          <a:cs typeface="Inter" pitchFamily="34" charset="-120"/>
                        </a:rPr>
                        <a:t>KUI (IO Admin)</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Inter" pitchFamily="34" charset="0"/>
                          <a:ea typeface="Inter" pitchFamily="34" charset="-122"/>
                          <a:cs typeface="Inter" pitchFamily="34" charset="-120"/>
                        </a:rPr>
                        <a:t>Pimpinan (viewer)</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tx2"/>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Create, submit and revise kegiatan</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Own unit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On behalf of a unit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Delete a draft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Only drafts they created</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Any draft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See kegiatan</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Own and co-unit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All</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Verified only</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See participant names and the mobility PDF</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Own</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No</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Verify mobility, decide duplicate students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Settings, calendar, Jenis rules, targets, freeze</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Dashboard, Awards, non-personal Excel</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Own unit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r h="429768">
                <a:tc>
                  <a:txBody>
                    <a:bodyPr/>
                    <a:lstStyle/>
                    <a:p>
                      <a:pPr indent="0" marL="0">
                        <a:buNone/>
                      </a:pPr>
                      <a:r>
                        <a:rPr lang="en-US" sz="1300" dirty="0">
                          <a:solidFill>
                            <a:schemeClr val="tx1"/>
                          </a:solidFill>
                          <a:latin typeface="Inter" pitchFamily="34" charset="0"/>
                          <a:ea typeface="Inter" pitchFamily="34" charset="-122"/>
                          <a:cs typeface="Inter" pitchFamily="34" charset="-120"/>
                        </a:rPr>
                        <a:t>Excel with student data (logged)</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nter" pitchFamily="34" charset="0"/>
                          <a:ea typeface="Inter" pitchFamily="34" charset="-122"/>
                          <a:cs typeface="Inter" pitchFamily="34" charset="-120"/>
                        </a:rPr>
                        <a:t>Own unit</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latin typeface="Inter" pitchFamily="34" charset="0"/>
                          <a:ea typeface="Inter" pitchFamily="34" charset="-122"/>
                          <a:cs typeface="Inter" pitchFamily="34" charset="-120"/>
                        </a:rPr>
                        <a:t>Yes</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c>
                  <a:txBody>
                    <a:bodyPr/>
                    <a:lstStyle/>
                    <a:p>
                      <a:pPr indent="0" marL="0">
                        <a:buNone/>
                      </a:pPr>
                      <a:r>
                        <a:rPr lang="en-US" sz="1300" dirty="0">
                          <a:solidFill>
                            <a:srgbClr val="5F6B78"/>
                          </a:solidFill>
                          <a:latin typeface="Inter" pitchFamily="34" charset="0"/>
                          <a:ea typeface="Inter" pitchFamily="34" charset="-122"/>
                          <a:cs typeface="Inter" pitchFamily="34" charset="-120"/>
                        </a:rPr>
                        <a:t>No</a:t>
                      </a:r>
                      <a:endParaRPr lang="en-US" sz="1300" dirty="0">
                        <a:latin typeface="Inter" charset="0"/>
                        <a:ea typeface="Inter" charset="0"/>
                        <a:cs typeface="Inter" charset="0"/>
                      </a:endParaRPr>
                    </a:p>
                  </a:txBody>
                  <a:tcPr marL="109728" marR="109728" marT="36576" marB="36576" anchor="ctr">
                    <a:lnL w="9525" cap="flat" cmpd="sng" algn="ctr">
                      <a:solidFill>
                        <a:srgbClr val="E2E5E9"/>
                      </a:solidFill>
                      <a:prstDash val="solid"/>
                      <a:round/>
                      <a:headEnd type="none" w="med" len="med"/>
                      <a:tailEnd type="none" w="med" len="med"/>
                    </a:lnL>
                    <a:lnR w="9525" cap="flat" cmpd="sng" algn="ctr">
                      <a:solidFill>
                        <a:srgbClr val="E2E5E9"/>
                      </a:solidFill>
                      <a:prstDash val="solid"/>
                      <a:round/>
                      <a:headEnd type="none" w="med" len="med"/>
                      <a:tailEnd type="none" w="med" len="med"/>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200" dirty="0">
                <a:solidFill>
                  <a:srgbClr val="5F6B78"/>
                </a:solidFill>
              </a:rPr>
              <a:t>Every KUI account (Kepala Kantor, Head and Staff of Partnership and Global Alliance) is an IO Admin. Accounts come from SIM Kerjasama; only Unit Akademik submit. Enforced in the database, not only hidden in the UI.</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lIns="0" tIns="0" rIns="0" bIns="0" rtlCol="0" anchor="b"/>
          <a:lstStyle/>
          <a:p>
            <a:pPr indent="0" marL="0">
              <a:buNone/>
            </a:pPr>
            <a:r>
              <a:rPr lang="en-US" sz="2400" dirty="0">
                <a:solidFill>
                  <a:schemeClr val="bg2"/>
                </a:solidFill>
              </a:rPr>
              <a:t>Part one</a:t>
            </a: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lIns="0" tIns="0" rIns="0" bIns="0" rtlCol="0" anchor="t"/>
          <a:lstStyle/>
          <a:p>
            <a:pPr algn="l" indent="0" marL="0">
              <a:buNone/>
            </a:pPr>
            <a:r>
              <a:rPr lang="en-US" sz="4400" b="1" spc="-100" kern="0" dirty="0">
                <a:solidFill>
                  <a:schemeClr val="bg1"/>
                </a:solidFill>
              </a:rPr>
              <a:t>Business process</a:t>
            </a: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lIns="0" tIns="0" rIns="0" bIns="0" rtlCol="0" anchor="t"/>
          <a:lstStyle/>
          <a:p>
            <a:pPr indent="0" marL="0">
              <a:buNone/>
            </a:pPr>
            <a:r>
              <a:rPr lang="en-US" sz="1800" dirty="0">
                <a:solidFill>
                  <a:schemeClr val="bg2"/>
                </a:solidFill>
              </a:rPr>
              <a:t>Two BPMN models: one kegiatan from the unit to the numbers, and what the system does on its own schedule.</a:t>
            </a:r>
            <a:endParaRPr lang="en-US" sz="1800" dirty="0"/>
          </a:p>
        </p:txBody>
      </p:sp>
      <p:pic>
        <p:nvPicPr>
          <p:cNvPr id="5" name="amber half ring" descr="preencoded.png">    </p:cNvPr>
          <p:cNvPicPr>
            <a:picLocks noChangeAspect="1"/>
          </p:cNvPicPr>
          <p:nvPr/>
        </p:nvPicPr>
        <p:blipFill>
          <a:blip r:embed="rId1"/>
          <a:stretch>
            <a:fillRect/>
          </a:stretch>
        </p:blipFill>
        <p:spPr>
          <a:xfrm>
            <a:off x="8778240" y="0"/>
            <a:ext cx="4206240" cy="2103120"/>
          </a:xfrm>
          <a:prstGeom prst="rect">
            <a:avLst/>
          </a:prstGeom>
        </p:spPr>
      </p:pic>
      <p:pic>
        <p:nvPicPr>
          <p:cNvPr id="6" name="teal half ring" descr="preencoded.png">    </p:cNvPr>
          <p:cNvPicPr>
            <a:picLocks noChangeAspect="1"/>
          </p:cNvPicPr>
          <p:nvPr/>
        </p:nvPicPr>
        <p:blipFill>
          <a:blip r:embed="rId2"/>
          <a:stretch>
            <a:fillRect/>
          </a:stretch>
        </p:blipFill>
        <p:spPr>
          <a:xfrm>
            <a:off x="9326880" y="4937760"/>
            <a:ext cx="3840480" cy="192024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PROCESS 1 · PENGAJUAN &amp; VERIFIKASI KEGIATAN</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From the unit's report to a verified kegiatan</a:t>
            </a:r>
            <a:endParaRPr lang="en-US" sz="3200" dirty="0"/>
          </a:p>
        </p:txBody>
      </p:sp>
      <p:pic>
        <p:nvPicPr>
          <p:cNvPr id="4" name="Image 0" descr="BPMN diagram: Pengajuan &amp; Verifikasi Kegiatan, lanes Unit Akademik, KUI Verifikasi Mobilitas and SIM Realisasi, with SIM Kerjasama and BAAK &amp; HR pools">    </p:cNvPr>
          <p:cNvPicPr>
            <a:picLocks noChangeAspect="1"/>
          </p:cNvPicPr>
          <p:nvPr/>
        </p:nvPicPr>
        <p:blipFill>
          <a:blip r:embed="rId1"/>
          <a:stretch>
            <a:fillRect/>
          </a:stretch>
        </p:blipFill>
        <p:spPr>
          <a:xfrm>
            <a:off x="548640" y="1554480"/>
            <a:ext cx="11091672" cy="3549070"/>
          </a:xfrm>
          <a:prstGeom prst="rect">
            <a:avLst/>
          </a:prstGeom>
        </p:spPr>
      </p:pic>
      <p:sp>
        <p:nvSpPr>
          <p:cNvPr id="5" name="callout"/>
          <p:cNvSpPr/>
          <p:nvPr/>
        </p:nvSpPr>
        <p:spPr>
          <a:xfrm>
            <a:off x="548640" y="5257800"/>
            <a:ext cx="3520440" cy="914400"/>
          </a:xfrm>
          <a:prstGeom prst="roundRect">
            <a:avLst>
              <a:gd name="adj" fmla="val 8000"/>
            </a:avLst>
          </a:prstGeom>
          <a:solidFill>
            <a:schemeClr val="bg2"/>
          </a:solidFill>
          <a:ln w="12700">
            <a:solidFill>
              <a:schemeClr val="bg2"/>
            </a:solidFill>
            <a:prstDash val="solid"/>
          </a:ln>
        </p:spPr>
      </p:sp>
      <p:sp>
        <p:nvSpPr>
          <p:cNvPr id="6" name="Text 3"/>
          <p:cNvSpPr txBox="1"/>
          <p:nvPr/>
        </p:nvSpPr>
        <p:spPr>
          <a:xfrm>
            <a:off x="777240" y="5376672"/>
            <a:ext cx="3108960" cy="731520"/>
          </a:xfrm>
          <a:prstGeom prst="rect">
            <a:avLst/>
          </a:prstGeom>
          <a:noFill/>
          <a:ln/>
        </p:spPr>
        <p:txBody>
          <a:bodyPr wrap="square" lIns="0" tIns="0" rIns="0" bIns="0" rtlCol="0" anchor="t"/>
          <a:lstStyle/>
          <a:p>
            <a:pPr indent="0" marL="0">
              <a:buNone/>
            </a:pPr>
            <a:r>
              <a:rPr lang="en-US" sz="1400" b="1" dirty="0">
                <a:solidFill>
                  <a:schemeClr val="tx2"/>
                </a:solidFill>
              </a:rPr>
              <a:t>Non-mobility kegiatan </a:t>
            </a:r>
            <a:pPr indent="0" marL="0">
              <a:buNone/>
            </a:pPr>
            <a:r>
              <a:rPr lang="en-US" sz="1400" dirty="0">
                <a:solidFill>
                  <a:schemeClr val="tx1"/>
                </a:solidFill>
              </a:rPr>
              <a:t>are verified the moment the unit submits.</a:t>
            </a:r>
            <a:endParaRPr lang="en-US" sz="1400" dirty="0"/>
          </a:p>
        </p:txBody>
      </p:sp>
      <p:sp>
        <p:nvSpPr>
          <p:cNvPr id="7" name="callout"/>
          <p:cNvSpPr/>
          <p:nvPr/>
        </p:nvSpPr>
        <p:spPr>
          <a:xfrm>
            <a:off x="4270248" y="5257800"/>
            <a:ext cx="3520440" cy="914400"/>
          </a:xfrm>
          <a:prstGeom prst="roundRect">
            <a:avLst>
              <a:gd name="adj" fmla="val 8000"/>
            </a:avLst>
          </a:prstGeom>
          <a:solidFill>
            <a:schemeClr val="bg2"/>
          </a:solidFill>
          <a:ln w="12700">
            <a:solidFill>
              <a:schemeClr val="bg2"/>
            </a:solidFill>
            <a:prstDash val="solid"/>
          </a:ln>
        </p:spPr>
      </p:sp>
      <p:sp>
        <p:nvSpPr>
          <p:cNvPr id="8" name="Text 5"/>
          <p:cNvSpPr txBox="1"/>
          <p:nvPr/>
        </p:nvSpPr>
        <p:spPr>
          <a:xfrm>
            <a:off x="4498848" y="5376672"/>
            <a:ext cx="3108960" cy="731520"/>
          </a:xfrm>
          <a:prstGeom prst="rect">
            <a:avLst/>
          </a:prstGeom>
          <a:noFill/>
          <a:ln/>
        </p:spPr>
        <p:txBody>
          <a:bodyPr wrap="square" lIns="0" tIns="0" rIns="0" bIns="0" rtlCol="0" anchor="t"/>
          <a:lstStyle/>
          <a:p>
            <a:pPr indent="0" marL="0">
              <a:buNone/>
            </a:pPr>
            <a:r>
              <a:rPr lang="en-US" sz="1400" b="1" dirty="0">
                <a:solidFill>
                  <a:schemeClr val="tx2"/>
                </a:solidFill>
              </a:rPr>
              <a:t>Mobility kegiatan </a:t>
            </a:r>
            <a:pPr indent="0" marL="0">
              <a:buNone/>
            </a:pPr>
            <a:r>
              <a:rPr lang="en-US" sz="1400" dirty="0">
                <a:solidFill>
                  <a:schemeClr val="tx1"/>
                </a:solidFill>
              </a:rPr>
              <a:t>wait for KUI, who checks participants and decides duplicate students.</a:t>
            </a:r>
            <a:endParaRPr lang="en-US" sz="1400" dirty="0"/>
          </a:p>
        </p:txBody>
      </p:sp>
      <p:sp>
        <p:nvSpPr>
          <p:cNvPr id="9" name="callout"/>
          <p:cNvSpPr/>
          <p:nvPr/>
        </p:nvSpPr>
        <p:spPr>
          <a:xfrm>
            <a:off x="7991856" y="5257800"/>
            <a:ext cx="3520440" cy="914400"/>
          </a:xfrm>
          <a:prstGeom prst="roundRect">
            <a:avLst>
              <a:gd name="adj" fmla="val 8000"/>
            </a:avLst>
          </a:prstGeom>
          <a:solidFill>
            <a:schemeClr val="bg2"/>
          </a:solidFill>
          <a:ln w="12700">
            <a:solidFill>
              <a:schemeClr val="bg2"/>
            </a:solidFill>
            <a:prstDash val="solid"/>
          </a:ln>
        </p:spPr>
      </p:sp>
      <p:sp>
        <p:nvSpPr>
          <p:cNvPr id="10" name="Text 7"/>
          <p:cNvSpPr txBox="1"/>
          <p:nvPr/>
        </p:nvSpPr>
        <p:spPr>
          <a:xfrm>
            <a:off x="8220456" y="5376672"/>
            <a:ext cx="3108960" cy="731520"/>
          </a:xfrm>
          <a:prstGeom prst="rect">
            <a:avLst/>
          </a:prstGeom>
          <a:noFill/>
          <a:ln/>
        </p:spPr>
        <p:txBody>
          <a:bodyPr wrap="square" lIns="0" tIns="0" rIns="0" bIns="0" rtlCol="0" anchor="t"/>
          <a:lstStyle/>
          <a:p>
            <a:pPr indent="0" marL="0">
              <a:buNone/>
            </a:pPr>
            <a:r>
              <a:rPr lang="en-US" sz="1400" b="1" dirty="0">
                <a:solidFill>
                  <a:schemeClr val="tx2"/>
                </a:solidFill>
              </a:rPr>
              <a:t>Nothing is rejected </a:t>
            </a:r>
            <a:pPr indent="0" marL="0">
              <a:buNone/>
            </a:pPr>
            <a:r>
              <a:rPr lang="en-US" sz="1400" dirty="0">
                <a:solidFill>
                  <a:schemeClr val="tx1"/>
                </a:solidFill>
              </a:rPr>
              <a:t>a wrong submission returns to the unit as a Revisi.</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PROCESS 1 IN FIVE STEPS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Report, check, verify, revise, count</a:t>
            </a:r>
            <a:endParaRPr lang="en-US" sz="3200" dirty="0"/>
          </a:p>
        </p:txBody>
      </p:sp>
      <p:sp>
        <p:nvSpPr>
          <p:cNvPr id="4" name="step marker"/>
          <p:cNvSpPr/>
          <p:nvPr/>
        </p:nvSpPr>
        <p:spPr>
          <a:xfrm>
            <a:off x="548640" y="1737360"/>
            <a:ext cx="640080" cy="640080"/>
          </a:xfrm>
          <a:prstGeom prst="ellipse">
            <a:avLst/>
          </a:prstGeom>
          <a:solidFill>
            <a:schemeClr val="tx2"/>
          </a:solidFill>
          <a:ln w="12700">
            <a:solidFill>
              <a:schemeClr val="tx2"/>
            </a:solidFill>
            <a:prstDash val="solid"/>
          </a:ln>
        </p:spPr>
      </p:sp>
      <p:sp>
        <p:nvSpPr>
          <p:cNvPr id="5" name="Text 3"/>
          <p:cNvSpPr txBox="1"/>
          <p:nvPr/>
        </p:nvSpPr>
        <p:spPr>
          <a:xfrm>
            <a:off x="54864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hape 4"/>
          <p:cNvSpPr/>
          <p:nvPr/>
        </p:nvSpPr>
        <p:spPr>
          <a:xfrm>
            <a:off x="1325880" y="2057400"/>
            <a:ext cx="1325880" cy="0"/>
          </a:xfrm>
          <a:prstGeom prst="line">
            <a:avLst/>
          </a:prstGeom>
          <a:noFill/>
          <a:ln w="19050">
            <a:solidFill>
              <a:srgbClr val="E2E5E9"/>
            </a:solidFill>
            <a:prstDash val="solid"/>
            <a:tailEnd type="triangle"/>
          </a:ln>
        </p:spPr>
      </p:sp>
      <p:sp>
        <p:nvSpPr>
          <p:cNvPr id="7" name="Text 5"/>
          <p:cNvSpPr txBox="1"/>
          <p:nvPr/>
        </p:nvSpPr>
        <p:spPr>
          <a:xfrm>
            <a:off x="548640" y="2606040"/>
            <a:ext cx="2011680" cy="411480"/>
          </a:xfrm>
          <a:prstGeom prst="rect">
            <a:avLst/>
          </a:prstGeom>
          <a:noFill/>
          <a:ln/>
        </p:spPr>
        <p:txBody>
          <a:bodyPr wrap="square" lIns="0" tIns="0" rIns="0" bIns="0" rtlCol="0" anchor="t"/>
          <a:lstStyle/>
          <a:p>
            <a:pPr indent="0" marL="0">
              <a:buNone/>
            </a:pPr>
            <a:r>
              <a:rPr lang="en-US" sz="2000" b="1" dirty="0">
                <a:solidFill>
                  <a:schemeClr val="tx2"/>
                </a:solidFill>
              </a:rPr>
              <a:t>Report</a:t>
            </a:r>
            <a:endParaRPr lang="en-US" sz="2000" dirty="0"/>
          </a:p>
        </p:txBody>
      </p:sp>
      <p:sp>
        <p:nvSpPr>
          <p:cNvPr id="8" name="Shape 6"/>
          <p:cNvSpPr/>
          <p:nvPr/>
        </p:nvSpPr>
        <p:spPr>
          <a:xfrm>
            <a:off x="548640" y="3200400"/>
            <a:ext cx="128016" cy="128016"/>
          </a:xfrm>
          <a:prstGeom prst="ellipse">
            <a:avLst/>
          </a:prstGeom>
          <a:solidFill>
            <a:schemeClr val="accent1"/>
          </a:solidFill>
          <a:ln w="12700">
            <a:solidFill>
              <a:schemeClr val="accent1"/>
            </a:solidFill>
            <a:prstDash val="solid"/>
          </a:ln>
        </p:spPr>
      </p:sp>
      <p:sp>
        <p:nvSpPr>
          <p:cNvPr id="9" name="Text 7"/>
          <p:cNvSpPr txBox="1"/>
          <p:nvPr/>
        </p:nvSpPr>
        <p:spPr>
          <a:xfrm>
            <a:off x="768096" y="3127248"/>
            <a:ext cx="1645920" cy="274320"/>
          </a:xfrm>
          <a:prstGeom prst="rect">
            <a:avLst/>
          </a:prstGeom>
          <a:noFill/>
          <a:ln/>
        </p:spPr>
        <p:txBody>
          <a:bodyPr wrap="square" lIns="0" tIns="0" rIns="0" bIns="0" rtlCol="0" anchor="t"/>
          <a:lstStyle/>
          <a:p>
            <a:pPr indent="0" marL="0">
              <a:buNone/>
            </a:pPr>
            <a:r>
              <a:rPr lang="en-US" sz="1200" b="1" dirty="0">
                <a:solidFill>
                  <a:srgbClr val="46505C"/>
                </a:solidFill>
              </a:rPr>
              <a:t>Unit</a:t>
            </a:r>
            <a:endParaRPr lang="en-US" sz="1200" dirty="0"/>
          </a:p>
        </p:txBody>
      </p:sp>
      <p:sp>
        <p:nvSpPr>
          <p:cNvPr id="10" name="Text 8"/>
          <p:cNvSpPr txBox="1"/>
          <p:nvPr/>
        </p:nvSpPr>
        <p:spPr>
          <a:xfrm>
            <a:off x="548640" y="3566160"/>
            <a:ext cx="2011680" cy="2103120"/>
          </a:xfrm>
          <a:prstGeom prst="rect">
            <a:avLst/>
          </a:prstGeom>
          <a:noFill/>
          <a:ln/>
        </p:spPr>
        <p:txBody>
          <a:bodyPr wrap="square" lIns="0" tIns="0" rIns="0" bIns="0" rtlCol="0" anchor="t"/>
          <a:lstStyle/>
          <a:p>
            <a:pPr indent="0" marL="0">
              <a:buNone/>
            </a:pPr>
            <a:r>
              <a:rPr lang="en-US" sz="1400" dirty="0">
                <a:solidFill>
                  <a:schemeClr val="tx1"/>
                </a:solidFill>
              </a:rPr>
              <a:t>Detail, one valid agreement, participants (NRP, NIP, inbound), IA and IR. A draft is deletable only by its creator or KUI.</a:t>
            </a:r>
            <a:endParaRPr lang="en-US" sz="1400" dirty="0"/>
          </a:p>
        </p:txBody>
      </p:sp>
      <p:sp>
        <p:nvSpPr>
          <p:cNvPr id="11" name="step marker"/>
          <p:cNvSpPr/>
          <p:nvPr/>
        </p:nvSpPr>
        <p:spPr>
          <a:xfrm>
            <a:off x="2788920" y="1737360"/>
            <a:ext cx="640080" cy="640080"/>
          </a:xfrm>
          <a:prstGeom prst="ellipse">
            <a:avLst/>
          </a:prstGeom>
          <a:solidFill>
            <a:schemeClr val="tx2"/>
          </a:solidFill>
          <a:ln w="12700">
            <a:solidFill>
              <a:schemeClr val="tx2"/>
            </a:solidFill>
            <a:prstDash val="solid"/>
          </a:ln>
        </p:spPr>
      </p:sp>
      <p:sp>
        <p:nvSpPr>
          <p:cNvPr id="12" name="Text 10"/>
          <p:cNvSpPr txBox="1"/>
          <p:nvPr/>
        </p:nvSpPr>
        <p:spPr>
          <a:xfrm>
            <a:off x="278892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Shape 11"/>
          <p:cNvSpPr/>
          <p:nvPr/>
        </p:nvSpPr>
        <p:spPr>
          <a:xfrm>
            <a:off x="3566160" y="2057400"/>
            <a:ext cx="1325880" cy="0"/>
          </a:xfrm>
          <a:prstGeom prst="line">
            <a:avLst/>
          </a:prstGeom>
          <a:noFill/>
          <a:ln w="19050">
            <a:solidFill>
              <a:srgbClr val="E2E5E9"/>
            </a:solidFill>
            <a:prstDash val="solid"/>
            <a:tailEnd type="triangle"/>
          </a:ln>
        </p:spPr>
      </p:sp>
      <p:sp>
        <p:nvSpPr>
          <p:cNvPr id="14" name="Text 12"/>
          <p:cNvSpPr txBox="1"/>
          <p:nvPr/>
        </p:nvSpPr>
        <p:spPr>
          <a:xfrm>
            <a:off x="2788920" y="2606040"/>
            <a:ext cx="2011680" cy="411480"/>
          </a:xfrm>
          <a:prstGeom prst="rect">
            <a:avLst/>
          </a:prstGeom>
          <a:noFill/>
          <a:ln/>
        </p:spPr>
        <p:txBody>
          <a:bodyPr wrap="square" lIns="0" tIns="0" rIns="0" bIns="0" rtlCol="0" anchor="t"/>
          <a:lstStyle/>
          <a:p>
            <a:pPr indent="0" marL="0">
              <a:buNone/>
            </a:pPr>
            <a:r>
              <a:rPr lang="en-US" sz="2000" b="1" dirty="0">
                <a:solidFill>
                  <a:schemeClr val="tx2"/>
                </a:solidFill>
              </a:rPr>
              <a:t>Check</a:t>
            </a:r>
            <a:endParaRPr lang="en-US" sz="2000" dirty="0"/>
          </a:p>
        </p:txBody>
      </p:sp>
      <p:sp>
        <p:nvSpPr>
          <p:cNvPr id="15" name="Shape 13"/>
          <p:cNvSpPr/>
          <p:nvPr/>
        </p:nvSpPr>
        <p:spPr>
          <a:xfrm>
            <a:off x="2788920" y="3200400"/>
            <a:ext cx="128016" cy="128016"/>
          </a:xfrm>
          <a:prstGeom prst="ellipse">
            <a:avLst/>
          </a:prstGeom>
          <a:solidFill>
            <a:schemeClr val="accent3"/>
          </a:solidFill>
          <a:ln w="12700">
            <a:solidFill>
              <a:schemeClr val="accent3"/>
            </a:solidFill>
            <a:prstDash val="solid"/>
          </a:ln>
        </p:spPr>
      </p:sp>
      <p:sp>
        <p:nvSpPr>
          <p:cNvPr id="16" name="Text 14"/>
          <p:cNvSpPr txBox="1"/>
          <p:nvPr/>
        </p:nvSpPr>
        <p:spPr>
          <a:xfrm>
            <a:off x="3008376" y="3127248"/>
            <a:ext cx="1645920" cy="274320"/>
          </a:xfrm>
          <a:prstGeom prst="rect">
            <a:avLst/>
          </a:prstGeom>
          <a:noFill/>
          <a:ln/>
        </p:spPr>
        <p:txBody>
          <a:bodyPr wrap="square" lIns="0" tIns="0" rIns="0" bIns="0" rtlCol="0" anchor="t"/>
          <a:lstStyle/>
          <a:p>
            <a:pPr indent="0" marL="0">
              <a:buNone/>
            </a:pPr>
            <a:r>
              <a:rPr lang="en-US" sz="1200" b="1" dirty="0">
                <a:solidFill>
                  <a:srgbClr val="46505C"/>
                </a:solidFill>
              </a:rPr>
              <a:t>Sistem</a:t>
            </a:r>
            <a:endParaRPr lang="en-US" sz="1200" dirty="0"/>
          </a:p>
        </p:txBody>
      </p:sp>
      <p:sp>
        <p:nvSpPr>
          <p:cNvPr id="17" name="Text 15"/>
          <p:cNvSpPr txBox="1"/>
          <p:nvPr/>
        </p:nvSpPr>
        <p:spPr>
          <a:xfrm>
            <a:off x="2788920" y="3566160"/>
            <a:ext cx="2011680" cy="2103120"/>
          </a:xfrm>
          <a:prstGeom prst="rect">
            <a:avLst/>
          </a:prstGeom>
          <a:noFill/>
          <a:ln/>
        </p:spPr>
        <p:txBody>
          <a:bodyPr wrap="square" lIns="0" tIns="0" rIns="0" bIns="0" rtlCol="0" anchor="t"/>
          <a:lstStyle/>
          <a:p>
            <a:pPr indent="0" marL="0">
              <a:buNone/>
            </a:pPr>
            <a:r>
              <a:rPr lang="en-US" sz="1400" dirty="0">
                <a:solidFill>
                  <a:schemeClr val="tx1"/>
                </a:solidFill>
              </a:rPr>
              <a:t>Looks up every NRP and NIP in BAAK and HR, checks required fields, flags Terlambat after the deadline.</a:t>
            </a:r>
            <a:endParaRPr lang="en-US" sz="1400" dirty="0"/>
          </a:p>
        </p:txBody>
      </p:sp>
      <p:sp>
        <p:nvSpPr>
          <p:cNvPr id="18" name="step marker"/>
          <p:cNvSpPr/>
          <p:nvPr/>
        </p:nvSpPr>
        <p:spPr>
          <a:xfrm>
            <a:off x="5029200" y="1737360"/>
            <a:ext cx="640080" cy="640080"/>
          </a:xfrm>
          <a:prstGeom prst="ellipse">
            <a:avLst/>
          </a:prstGeom>
          <a:solidFill>
            <a:schemeClr val="tx2"/>
          </a:solidFill>
          <a:ln w="12700">
            <a:solidFill>
              <a:schemeClr val="tx2"/>
            </a:solidFill>
            <a:prstDash val="solid"/>
          </a:ln>
        </p:spPr>
      </p:sp>
      <p:sp>
        <p:nvSpPr>
          <p:cNvPr id="19" name="Text 17"/>
          <p:cNvSpPr txBox="1"/>
          <p:nvPr/>
        </p:nvSpPr>
        <p:spPr>
          <a:xfrm>
            <a:off x="502920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Shape 18"/>
          <p:cNvSpPr/>
          <p:nvPr/>
        </p:nvSpPr>
        <p:spPr>
          <a:xfrm>
            <a:off x="5806440" y="2057400"/>
            <a:ext cx="1325880" cy="0"/>
          </a:xfrm>
          <a:prstGeom prst="line">
            <a:avLst/>
          </a:prstGeom>
          <a:noFill/>
          <a:ln w="19050">
            <a:solidFill>
              <a:srgbClr val="E2E5E9"/>
            </a:solidFill>
            <a:prstDash val="solid"/>
            <a:tailEnd type="triangle"/>
          </a:ln>
        </p:spPr>
      </p:sp>
      <p:sp>
        <p:nvSpPr>
          <p:cNvPr id="21" name="Text 19"/>
          <p:cNvSpPr txBox="1"/>
          <p:nvPr/>
        </p:nvSpPr>
        <p:spPr>
          <a:xfrm>
            <a:off x="5029200" y="2606040"/>
            <a:ext cx="2011680" cy="411480"/>
          </a:xfrm>
          <a:prstGeom prst="rect">
            <a:avLst/>
          </a:prstGeom>
          <a:noFill/>
          <a:ln/>
        </p:spPr>
        <p:txBody>
          <a:bodyPr wrap="square" lIns="0" tIns="0" rIns="0" bIns="0" rtlCol="0" anchor="t"/>
          <a:lstStyle/>
          <a:p>
            <a:pPr indent="0" marL="0">
              <a:buNone/>
            </a:pPr>
            <a:r>
              <a:rPr lang="en-US" sz="2000" b="1" dirty="0">
                <a:solidFill>
                  <a:schemeClr val="tx2"/>
                </a:solidFill>
              </a:rPr>
              <a:t>Verify</a:t>
            </a:r>
            <a:endParaRPr lang="en-US" sz="2000" dirty="0"/>
          </a:p>
        </p:txBody>
      </p:sp>
      <p:sp>
        <p:nvSpPr>
          <p:cNvPr id="22" name="Shape 20"/>
          <p:cNvSpPr/>
          <p:nvPr/>
        </p:nvSpPr>
        <p:spPr>
          <a:xfrm>
            <a:off x="5029200" y="3200400"/>
            <a:ext cx="128016" cy="128016"/>
          </a:xfrm>
          <a:prstGeom prst="ellipse">
            <a:avLst/>
          </a:prstGeom>
          <a:solidFill>
            <a:schemeClr val="accent2"/>
          </a:solidFill>
          <a:ln w="12700">
            <a:solidFill>
              <a:schemeClr val="accent2"/>
            </a:solidFill>
            <a:prstDash val="solid"/>
          </a:ln>
        </p:spPr>
      </p:sp>
      <p:sp>
        <p:nvSpPr>
          <p:cNvPr id="23" name="Text 21"/>
          <p:cNvSpPr txBox="1"/>
          <p:nvPr/>
        </p:nvSpPr>
        <p:spPr>
          <a:xfrm>
            <a:off x="5248656" y="3127248"/>
            <a:ext cx="1645920" cy="274320"/>
          </a:xfrm>
          <a:prstGeom prst="rect">
            <a:avLst/>
          </a:prstGeom>
          <a:noFill/>
          <a:ln/>
        </p:spPr>
        <p:txBody>
          <a:bodyPr wrap="square" lIns="0" tIns="0" rIns="0" bIns="0" rtlCol="0" anchor="t"/>
          <a:lstStyle/>
          <a:p>
            <a:pPr indent="0" marL="0">
              <a:buNone/>
            </a:pPr>
            <a:r>
              <a:rPr lang="en-US" sz="1200" b="1" dirty="0">
                <a:solidFill>
                  <a:srgbClr val="46505C"/>
                </a:solidFill>
              </a:rPr>
              <a:t>KUI</a:t>
            </a:r>
            <a:endParaRPr lang="en-US" sz="1200" dirty="0"/>
          </a:p>
        </p:txBody>
      </p:sp>
      <p:sp>
        <p:nvSpPr>
          <p:cNvPr id="24" name="Text 22"/>
          <p:cNvSpPr txBox="1"/>
          <p:nvPr/>
        </p:nvSpPr>
        <p:spPr>
          <a:xfrm>
            <a:off x="5029200" y="3566160"/>
            <a:ext cx="2011680" cy="2103120"/>
          </a:xfrm>
          <a:prstGeom prst="rect">
            <a:avLst/>
          </a:prstGeom>
          <a:noFill/>
          <a:ln/>
        </p:spPr>
        <p:txBody>
          <a:bodyPr wrap="square" lIns="0" tIns="0" rIns="0" bIns="0" rtlCol="0" anchor="t"/>
          <a:lstStyle/>
          <a:p>
            <a:pPr indent="0" marL="0">
              <a:buNone/>
            </a:pPr>
            <a:r>
              <a:rPr lang="en-US" sz="1400" dirty="0">
                <a:solidFill>
                  <a:schemeClr val="tx1"/>
                </a:solidFill>
              </a:rPr>
              <a:t>Reviews participants and the PDF; for a student claimed by two units, picks the kegiatan that keeps them.</a:t>
            </a:r>
            <a:endParaRPr lang="en-US" sz="1400" dirty="0"/>
          </a:p>
        </p:txBody>
      </p:sp>
      <p:sp>
        <p:nvSpPr>
          <p:cNvPr id="25" name="step marker"/>
          <p:cNvSpPr/>
          <p:nvPr/>
        </p:nvSpPr>
        <p:spPr>
          <a:xfrm>
            <a:off x="7269480" y="1737360"/>
            <a:ext cx="640080" cy="640080"/>
          </a:xfrm>
          <a:prstGeom prst="ellipse">
            <a:avLst/>
          </a:prstGeom>
          <a:solidFill>
            <a:schemeClr val="tx2"/>
          </a:solidFill>
          <a:ln w="12700">
            <a:solidFill>
              <a:schemeClr val="tx2"/>
            </a:solidFill>
            <a:prstDash val="solid"/>
          </a:ln>
        </p:spPr>
      </p:sp>
      <p:sp>
        <p:nvSpPr>
          <p:cNvPr id="26" name="Text 24"/>
          <p:cNvSpPr txBox="1"/>
          <p:nvPr/>
        </p:nvSpPr>
        <p:spPr>
          <a:xfrm>
            <a:off x="726948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Shape 25"/>
          <p:cNvSpPr/>
          <p:nvPr/>
        </p:nvSpPr>
        <p:spPr>
          <a:xfrm>
            <a:off x="8046720" y="2057400"/>
            <a:ext cx="1325880" cy="0"/>
          </a:xfrm>
          <a:prstGeom prst="line">
            <a:avLst/>
          </a:prstGeom>
          <a:noFill/>
          <a:ln w="19050">
            <a:solidFill>
              <a:srgbClr val="E2E5E9"/>
            </a:solidFill>
            <a:prstDash val="solid"/>
            <a:tailEnd type="triangle"/>
          </a:ln>
        </p:spPr>
      </p:sp>
      <p:sp>
        <p:nvSpPr>
          <p:cNvPr id="28" name="Text 26"/>
          <p:cNvSpPr txBox="1"/>
          <p:nvPr/>
        </p:nvSpPr>
        <p:spPr>
          <a:xfrm>
            <a:off x="7269480" y="2606040"/>
            <a:ext cx="2011680" cy="411480"/>
          </a:xfrm>
          <a:prstGeom prst="rect">
            <a:avLst/>
          </a:prstGeom>
          <a:noFill/>
          <a:ln/>
        </p:spPr>
        <p:txBody>
          <a:bodyPr wrap="square" lIns="0" tIns="0" rIns="0" bIns="0" rtlCol="0" anchor="t"/>
          <a:lstStyle/>
          <a:p>
            <a:pPr indent="0" marL="0">
              <a:buNone/>
            </a:pPr>
            <a:r>
              <a:rPr lang="en-US" sz="2000" b="1" dirty="0">
                <a:solidFill>
                  <a:schemeClr val="tx2"/>
                </a:solidFill>
              </a:rPr>
              <a:t>Revise</a:t>
            </a:r>
            <a:endParaRPr lang="en-US" sz="2000" dirty="0"/>
          </a:p>
        </p:txBody>
      </p:sp>
      <p:sp>
        <p:nvSpPr>
          <p:cNvPr id="29" name="Shape 27"/>
          <p:cNvSpPr/>
          <p:nvPr/>
        </p:nvSpPr>
        <p:spPr>
          <a:xfrm>
            <a:off x="7269480" y="3200400"/>
            <a:ext cx="128016" cy="128016"/>
          </a:xfrm>
          <a:prstGeom prst="ellipse">
            <a:avLst/>
          </a:prstGeom>
          <a:solidFill>
            <a:schemeClr val="accent1"/>
          </a:solidFill>
          <a:ln w="12700">
            <a:solidFill>
              <a:schemeClr val="accent1"/>
            </a:solidFill>
            <a:prstDash val="solid"/>
          </a:ln>
        </p:spPr>
      </p:sp>
      <p:sp>
        <p:nvSpPr>
          <p:cNvPr id="30" name="Text 28"/>
          <p:cNvSpPr txBox="1"/>
          <p:nvPr/>
        </p:nvSpPr>
        <p:spPr>
          <a:xfrm>
            <a:off x="7488936" y="3127248"/>
            <a:ext cx="1645920" cy="274320"/>
          </a:xfrm>
          <a:prstGeom prst="rect">
            <a:avLst/>
          </a:prstGeom>
          <a:noFill/>
          <a:ln/>
        </p:spPr>
        <p:txBody>
          <a:bodyPr wrap="square" lIns="0" tIns="0" rIns="0" bIns="0" rtlCol="0" anchor="t"/>
          <a:lstStyle/>
          <a:p>
            <a:pPr indent="0" marL="0">
              <a:buNone/>
            </a:pPr>
            <a:r>
              <a:rPr lang="en-US" sz="1200" b="1" dirty="0">
                <a:solidFill>
                  <a:srgbClr val="46505C"/>
                </a:solidFill>
              </a:rPr>
              <a:t>Unit</a:t>
            </a:r>
            <a:endParaRPr lang="en-US" sz="1200" dirty="0"/>
          </a:p>
        </p:txBody>
      </p:sp>
      <p:sp>
        <p:nvSpPr>
          <p:cNvPr id="31" name="Text 29"/>
          <p:cNvSpPr txBox="1"/>
          <p:nvPr/>
        </p:nvSpPr>
        <p:spPr>
          <a:xfrm>
            <a:off x="7269480" y="3566160"/>
            <a:ext cx="2011680" cy="2103120"/>
          </a:xfrm>
          <a:prstGeom prst="rect">
            <a:avLst/>
          </a:prstGeom>
          <a:noFill/>
          <a:ln/>
        </p:spPr>
        <p:txBody>
          <a:bodyPr wrap="square" lIns="0" tIns="0" rIns="0" bIns="0" rtlCol="0" anchor="t"/>
          <a:lstStyle/>
          <a:p>
            <a:pPr indent="0" marL="0">
              <a:buNone/>
            </a:pPr>
            <a:r>
              <a:rPr lang="en-US" sz="1400" dirty="0">
                <a:solidFill>
                  <a:schemeClr val="tx1"/>
                </a:solidFill>
              </a:rPr>
              <a:t>Gets a notification and a Revisi flag with KUI's note; uses Revisi sekarang to resubmit a new version.</a:t>
            </a:r>
            <a:endParaRPr lang="en-US" sz="1400" dirty="0"/>
          </a:p>
        </p:txBody>
      </p:sp>
      <p:sp>
        <p:nvSpPr>
          <p:cNvPr id="32" name="step marker"/>
          <p:cNvSpPr/>
          <p:nvPr/>
        </p:nvSpPr>
        <p:spPr>
          <a:xfrm>
            <a:off x="9509760" y="1737360"/>
            <a:ext cx="640080" cy="640080"/>
          </a:xfrm>
          <a:prstGeom prst="ellipse">
            <a:avLst/>
          </a:prstGeom>
          <a:solidFill>
            <a:schemeClr val="tx2"/>
          </a:solidFill>
          <a:ln w="12700">
            <a:solidFill>
              <a:schemeClr val="tx2"/>
            </a:solidFill>
            <a:prstDash val="solid"/>
          </a:ln>
        </p:spPr>
      </p:sp>
      <p:sp>
        <p:nvSpPr>
          <p:cNvPr id="33" name="Text 31"/>
          <p:cNvSpPr txBox="1"/>
          <p:nvPr/>
        </p:nvSpPr>
        <p:spPr>
          <a:xfrm>
            <a:off x="950976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4" name="Text 32"/>
          <p:cNvSpPr txBox="1"/>
          <p:nvPr/>
        </p:nvSpPr>
        <p:spPr>
          <a:xfrm>
            <a:off x="9509760" y="2606040"/>
            <a:ext cx="2011680" cy="411480"/>
          </a:xfrm>
          <a:prstGeom prst="rect">
            <a:avLst/>
          </a:prstGeom>
          <a:noFill/>
          <a:ln/>
        </p:spPr>
        <p:txBody>
          <a:bodyPr wrap="square" lIns="0" tIns="0" rIns="0" bIns="0" rtlCol="0" anchor="t"/>
          <a:lstStyle/>
          <a:p>
            <a:pPr indent="0" marL="0">
              <a:buNone/>
            </a:pPr>
            <a:r>
              <a:rPr lang="en-US" sz="2000" b="1" dirty="0">
                <a:solidFill>
                  <a:schemeClr val="tx2"/>
                </a:solidFill>
              </a:rPr>
              <a:t>Count</a:t>
            </a:r>
            <a:endParaRPr lang="en-US" sz="2000" dirty="0"/>
          </a:p>
        </p:txBody>
      </p:sp>
      <p:sp>
        <p:nvSpPr>
          <p:cNvPr id="35" name="Shape 33"/>
          <p:cNvSpPr/>
          <p:nvPr/>
        </p:nvSpPr>
        <p:spPr>
          <a:xfrm>
            <a:off x="9509760" y="3200400"/>
            <a:ext cx="128016" cy="128016"/>
          </a:xfrm>
          <a:prstGeom prst="ellipse">
            <a:avLst/>
          </a:prstGeom>
          <a:solidFill>
            <a:schemeClr val="accent3"/>
          </a:solidFill>
          <a:ln w="12700">
            <a:solidFill>
              <a:schemeClr val="accent3"/>
            </a:solidFill>
            <a:prstDash val="solid"/>
          </a:ln>
        </p:spPr>
      </p:sp>
      <p:sp>
        <p:nvSpPr>
          <p:cNvPr id="36" name="Text 34"/>
          <p:cNvSpPr txBox="1"/>
          <p:nvPr/>
        </p:nvSpPr>
        <p:spPr>
          <a:xfrm>
            <a:off x="9729216" y="3127248"/>
            <a:ext cx="1645920" cy="274320"/>
          </a:xfrm>
          <a:prstGeom prst="rect">
            <a:avLst/>
          </a:prstGeom>
          <a:noFill/>
          <a:ln/>
        </p:spPr>
        <p:txBody>
          <a:bodyPr wrap="square" lIns="0" tIns="0" rIns="0" bIns="0" rtlCol="0" anchor="t"/>
          <a:lstStyle/>
          <a:p>
            <a:pPr indent="0" marL="0">
              <a:buNone/>
            </a:pPr>
            <a:r>
              <a:rPr lang="en-US" sz="1200" b="1" dirty="0">
                <a:solidFill>
                  <a:srgbClr val="46505C"/>
                </a:solidFill>
              </a:rPr>
              <a:t>Sistem</a:t>
            </a:r>
            <a:endParaRPr lang="en-US" sz="1200" dirty="0"/>
          </a:p>
        </p:txBody>
      </p:sp>
      <p:sp>
        <p:nvSpPr>
          <p:cNvPr id="37" name="Text 35"/>
          <p:cNvSpPr txBox="1"/>
          <p:nvPr/>
        </p:nvSpPr>
        <p:spPr>
          <a:xfrm>
            <a:off x="9509760" y="3566160"/>
            <a:ext cx="2011680" cy="2103120"/>
          </a:xfrm>
          <a:prstGeom prst="rect">
            <a:avLst/>
          </a:prstGeom>
          <a:noFill/>
          <a:ln/>
        </p:spPr>
        <p:txBody>
          <a:bodyPr wrap="square" lIns="0" tIns="0" rIns="0" bIns="0" rtlCol="0" anchor="t"/>
          <a:lstStyle/>
          <a:p>
            <a:pPr indent="0" marL="0">
              <a:buNone/>
            </a:pPr>
            <a:r>
              <a:rPr lang="en-US" sz="1400" dirty="0">
                <a:solidFill>
                  <a:schemeClr val="tx1"/>
                </a:solidFill>
              </a:rPr>
              <a:t>Terverifikasi: counted in RENSTRA per unit and in Awards; frozen at the semester cutoff.</a:t>
            </a:r>
            <a:endParaRPr lang="en-US" sz="1400" dirty="0"/>
          </a:p>
        </p:txBody>
      </p:sp>
      <p:sp>
        <p:nvSpPr>
          <p:cNvPr id="38" name="rule note"/>
          <p:cNvSpPr/>
          <p:nvPr/>
        </p:nvSpPr>
        <p:spPr>
          <a:xfrm>
            <a:off x="548640" y="5623560"/>
            <a:ext cx="11064240" cy="548640"/>
          </a:xfrm>
          <a:prstGeom prst="roundRect">
            <a:avLst>
              <a:gd name="adj" fmla="val 13333"/>
            </a:avLst>
          </a:prstGeom>
          <a:solidFill>
            <a:schemeClr val="bg2"/>
          </a:solidFill>
          <a:ln w="12700">
            <a:solidFill>
              <a:schemeClr val="bg2"/>
            </a:solidFill>
            <a:prstDash val="solid"/>
          </a:ln>
        </p:spPr>
      </p:sp>
      <p:sp>
        <p:nvSpPr>
          <p:cNvPr id="39" name="Text 37"/>
          <p:cNvSpPr txBox="1"/>
          <p:nvPr/>
        </p:nvSpPr>
        <p:spPr>
          <a:xfrm>
            <a:off x="777240" y="5733288"/>
            <a:ext cx="10607040" cy="365760"/>
          </a:xfrm>
          <a:prstGeom prst="rect">
            <a:avLst/>
          </a:prstGeom>
          <a:noFill/>
          <a:ln/>
        </p:spPr>
        <p:txBody>
          <a:bodyPr wrap="square" lIns="0" tIns="0" rIns="0" bIns="0" rtlCol="0" anchor="t"/>
          <a:lstStyle/>
          <a:p>
            <a:pPr indent="0" marL="0">
              <a:buNone/>
            </a:pPr>
            <a:r>
              <a:rPr lang="en-US" sz="1300" dirty="0">
                <a:solidFill>
                  <a:srgbClr val="46505C"/>
                </a:solidFill>
              </a:rPr>
              <a:t>Approval is a plain confirmation without a note; a revision request always needs one. Approval stays blocked while a duplicate student is undecided.</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PROCESS 2 · PENGINGAT, TUTUP SEMESTER &amp; PELAPORAN</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What runs on the system's own schedule</a:t>
            </a:r>
            <a:endParaRPr lang="en-US" sz="3200" dirty="0"/>
          </a:p>
        </p:txBody>
      </p:sp>
      <p:pic>
        <p:nvPicPr>
          <p:cNvPr id="4" name="Image 0" descr="BPMN diagram: reminders, RENSTRA targets, semester freeze and late data">    </p:cNvPr>
          <p:cNvPicPr>
            <a:picLocks noChangeAspect="1"/>
          </p:cNvPicPr>
          <p:nvPr/>
        </p:nvPicPr>
        <p:blipFill>
          <a:blip r:embed="rId1"/>
          <a:stretch>
            <a:fillRect/>
          </a:stretch>
        </p:blipFill>
        <p:spPr>
          <a:xfrm>
            <a:off x="548640" y="1600200"/>
            <a:ext cx="7290544" cy="4526280"/>
          </a:xfrm>
          <a:prstGeom prst="rect">
            <a:avLst/>
          </a:prstGeom>
        </p:spPr>
      </p:pic>
      <p:sp>
        <p:nvSpPr>
          <p:cNvPr id="5" name="trigger card"/>
          <p:cNvSpPr/>
          <p:nvPr/>
        </p:nvSpPr>
        <p:spPr>
          <a:xfrm>
            <a:off x="8159224" y="1600200"/>
            <a:ext cx="3483831" cy="1024128"/>
          </a:xfrm>
          <a:prstGeom prst="roundRect">
            <a:avLst>
              <a:gd name="adj" fmla="val 7143"/>
            </a:avLst>
          </a:prstGeom>
          <a:solidFill>
            <a:schemeClr val="bg2"/>
          </a:solidFill>
          <a:ln w="12700">
            <a:solidFill>
              <a:schemeClr val="bg2"/>
            </a:solidFill>
            <a:prstDash val="solid"/>
          </a:ln>
        </p:spPr>
      </p:sp>
      <p:sp>
        <p:nvSpPr>
          <p:cNvPr id="6" name="Text 3"/>
          <p:cNvSpPr txBox="1"/>
          <p:nvPr/>
        </p:nvSpPr>
        <p:spPr>
          <a:xfrm>
            <a:off x="8387824" y="1719072"/>
            <a:ext cx="3026631" cy="320040"/>
          </a:xfrm>
          <a:prstGeom prst="rect">
            <a:avLst/>
          </a:prstGeom>
          <a:noFill/>
          <a:ln/>
        </p:spPr>
        <p:txBody>
          <a:bodyPr wrap="square" lIns="0" tIns="0" rIns="0" bIns="0" rtlCol="0" anchor="t"/>
          <a:lstStyle/>
          <a:p>
            <a:pPr indent="0" marL="0">
              <a:buNone/>
            </a:pPr>
            <a:r>
              <a:rPr lang="en-US" sz="1500" b="1" dirty="0">
                <a:solidFill>
                  <a:schemeClr val="tx2"/>
                </a:solidFill>
              </a:rPr>
              <a:t>Every day</a:t>
            </a:r>
            <a:endParaRPr lang="en-US" sz="1500" dirty="0"/>
          </a:p>
        </p:txBody>
      </p:sp>
      <p:sp>
        <p:nvSpPr>
          <p:cNvPr id="7" name="Text 4"/>
          <p:cNvSpPr txBox="1"/>
          <p:nvPr/>
        </p:nvSpPr>
        <p:spPr>
          <a:xfrm>
            <a:off x="8387824" y="2039112"/>
            <a:ext cx="3072351" cy="548640"/>
          </a:xfrm>
          <a:prstGeom prst="rect">
            <a:avLst/>
          </a:prstGeom>
          <a:noFill/>
          <a:ln/>
        </p:spPr>
        <p:txBody>
          <a:bodyPr wrap="square" lIns="0" tIns="0" rIns="0" bIns="0" rtlCol="0" anchor="t"/>
          <a:lstStyle/>
          <a:p>
            <a:pPr indent="0" marL="0">
              <a:buNone/>
            </a:pPr>
            <a:r>
              <a:rPr lang="en-US" sz="1250" dirty="0">
                <a:solidFill>
                  <a:schemeClr val="tx1"/>
                </a:solidFill>
              </a:rPr>
              <a:t>Reminders for drafts near the deadline and for revisions untouched for 7 days.</a:t>
            </a:r>
            <a:endParaRPr lang="en-US" sz="1250" dirty="0"/>
          </a:p>
        </p:txBody>
      </p:sp>
      <p:sp>
        <p:nvSpPr>
          <p:cNvPr id="8" name="trigger card"/>
          <p:cNvSpPr/>
          <p:nvPr/>
        </p:nvSpPr>
        <p:spPr>
          <a:xfrm>
            <a:off x="8159224" y="2761488"/>
            <a:ext cx="3483831" cy="1024128"/>
          </a:xfrm>
          <a:prstGeom prst="roundRect">
            <a:avLst>
              <a:gd name="adj" fmla="val 7143"/>
            </a:avLst>
          </a:prstGeom>
          <a:solidFill>
            <a:schemeClr val="bg2"/>
          </a:solidFill>
          <a:ln w="12700">
            <a:solidFill>
              <a:schemeClr val="bg2"/>
            </a:solidFill>
            <a:prstDash val="solid"/>
          </a:ln>
        </p:spPr>
      </p:sp>
      <p:sp>
        <p:nvSpPr>
          <p:cNvPr id="9" name="Text 6"/>
          <p:cNvSpPr txBox="1"/>
          <p:nvPr/>
        </p:nvSpPr>
        <p:spPr>
          <a:xfrm>
            <a:off x="8387824" y="2880360"/>
            <a:ext cx="3026631" cy="320040"/>
          </a:xfrm>
          <a:prstGeom prst="rect">
            <a:avLst/>
          </a:prstGeom>
          <a:noFill/>
          <a:ln/>
        </p:spPr>
        <p:txBody>
          <a:bodyPr wrap="square" lIns="0" tIns="0" rIns="0" bIns="0" rtlCol="0" anchor="t"/>
          <a:lstStyle/>
          <a:p>
            <a:pPr indent="0" marL="0">
              <a:buNone/>
            </a:pPr>
            <a:r>
              <a:rPr lang="en-US" sz="1500" b="1" dirty="0">
                <a:solidFill>
                  <a:schemeClr val="tx2"/>
                </a:solidFill>
              </a:rPr>
              <a:t>Start of the academic year</a:t>
            </a:r>
            <a:endParaRPr lang="en-US" sz="1500" dirty="0"/>
          </a:p>
        </p:txBody>
      </p:sp>
      <p:sp>
        <p:nvSpPr>
          <p:cNvPr id="10" name="Text 7"/>
          <p:cNvSpPr txBox="1"/>
          <p:nvPr/>
        </p:nvSpPr>
        <p:spPr>
          <a:xfrm>
            <a:off x="8387824" y="3200400"/>
            <a:ext cx="3072351" cy="548640"/>
          </a:xfrm>
          <a:prstGeom prst="rect">
            <a:avLst/>
          </a:prstGeom>
          <a:noFill/>
          <a:ln/>
        </p:spPr>
        <p:txBody>
          <a:bodyPr wrap="square" lIns="0" tIns="0" rIns="0" bIns="0" rtlCol="0" anchor="t"/>
          <a:lstStyle/>
          <a:p>
            <a:pPr indent="0" marL="0">
              <a:buNone/>
            </a:pPr>
            <a:r>
              <a:rPr lang="en-US" sz="1250" dirty="0">
                <a:solidFill>
                  <a:schemeClr val="tx1"/>
                </a:solidFill>
              </a:rPr>
              <a:t>KUI sets a target per unit and indicator in Pengaturan.</a:t>
            </a:r>
            <a:endParaRPr lang="en-US" sz="1250" dirty="0"/>
          </a:p>
        </p:txBody>
      </p:sp>
      <p:sp>
        <p:nvSpPr>
          <p:cNvPr id="11" name="trigger card"/>
          <p:cNvSpPr/>
          <p:nvPr/>
        </p:nvSpPr>
        <p:spPr>
          <a:xfrm>
            <a:off x="8159224" y="3922776"/>
            <a:ext cx="3483831" cy="1024128"/>
          </a:xfrm>
          <a:prstGeom prst="roundRect">
            <a:avLst>
              <a:gd name="adj" fmla="val 7143"/>
            </a:avLst>
          </a:prstGeom>
          <a:solidFill>
            <a:schemeClr val="bg2"/>
          </a:solidFill>
          <a:ln w="12700">
            <a:solidFill>
              <a:schemeClr val="bg2"/>
            </a:solidFill>
            <a:prstDash val="solid"/>
          </a:ln>
        </p:spPr>
      </p:sp>
      <p:sp>
        <p:nvSpPr>
          <p:cNvPr id="12" name="Text 9"/>
          <p:cNvSpPr txBox="1"/>
          <p:nvPr/>
        </p:nvSpPr>
        <p:spPr>
          <a:xfrm>
            <a:off x="8387824" y="4041648"/>
            <a:ext cx="3026631" cy="320040"/>
          </a:xfrm>
          <a:prstGeom prst="rect">
            <a:avLst/>
          </a:prstGeom>
          <a:noFill/>
          <a:ln/>
        </p:spPr>
        <p:txBody>
          <a:bodyPr wrap="square" lIns="0" tIns="0" rIns="0" bIns="0" rtlCol="0" anchor="t"/>
          <a:lstStyle/>
          <a:p>
            <a:pPr indent="0" marL="0">
              <a:buNone/>
            </a:pPr>
            <a:r>
              <a:rPr lang="en-US" sz="1500" b="1" dirty="0">
                <a:solidFill>
                  <a:schemeClr val="tx2"/>
                </a:solidFill>
              </a:rPr>
              <a:t>Semester cutoff</a:t>
            </a:r>
            <a:endParaRPr lang="en-US" sz="1500" dirty="0"/>
          </a:p>
        </p:txBody>
      </p:sp>
      <p:sp>
        <p:nvSpPr>
          <p:cNvPr id="13" name="Text 10"/>
          <p:cNvSpPr txBox="1"/>
          <p:nvPr/>
        </p:nvSpPr>
        <p:spPr>
          <a:xfrm>
            <a:off x="8387824" y="4361688"/>
            <a:ext cx="3072351" cy="548640"/>
          </a:xfrm>
          <a:prstGeom prst="rect">
            <a:avLst/>
          </a:prstGeom>
          <a:noFill/>
          <a:ln/>
        </p:spPr>
        <p:txBody>
          <a:bodyPr wrap="square" lIns="0" tIns="0" rIns="0" bIns="0" rtlCol="0" anchor="t"/>
          <a:lstStyle/>
          <a:p>
            <a:pPr indent="0" marL="0">
              <a:buNone/>
            </a:pPr>
            <a:r>
              <a:rPr lang="en-US" sz="1250" dirty="0">
                <a:solidFill>
                  <a:schemeClr val="tx1"/>
                </a:solidFill>
              </a:rPr>
              <a:t>End + 30 days: compute, freeze, notify. Re-freeze needs a reason; the old snapshot stays.</a:t>
            </a:r>
            <a:endParaRPr lang="en-US" sz="1250" dirty="0"/>
          </a:p>
        </p:txBody>
      </p:sp>
      <p:sp>
        <p:nvSpPr>
          <p:cNvPr id="14" name="trigger card"/>
          <p:cNvSpPr/>
          <p:nvPr/>
        </p:nvSpPr>
        <p:spPr>
          <a:xfrm>
            <a:off x="8159224" y="5084064"/>
            <a:ext cx="3483831" cy="1024128"/>
          </a:xfrm>
          <a:prstGeom prst="roundRect">
            <a:avLst>
              <a:gd name="adj" fmla="val 7143"/>
            </a:avLst>
          </a:prstGeom>
          <a:solidFill>
            <a:schemeClr val="bg2"/>
          </a:solidFill>
          <a:ln w="12700">
            <a:solidFill>
              <a:schemeClr val="bg2"/>
            </a:solidFill>
            <a:prstDash val="solid"/>
          </a:ln>
        </p:spPr>
      </p:sp>
      <p:sp>
        <p:nvSpPr>
          <p:cNvPr id="15" name="Text 12"/>
          <p:cNvSpPr txBox="1"/>
          <p:nvPr/>
        </p:nvSpPr>
        <p:spPr>
          <a:xfrm>
            <a:off x="8387824" y="5202936"/>
            <a:ext cx="3026631" cy="320040"/>
          </a:xfrm>
          <a:prstGeom prst="rect">
            <a:avLst/>
          </a:prstGeom>
          <a:noFill/>
          <a:ln/>
        </p:spPr>
        <p:txBody>
          <a:bodyPr wrap="square" lIns="0" tIns="0" rIns="0" bIns="0" rtlCol="0" anchor="t"/>
          <a:lstStyle/>
          <a:p>
            <a:pPr indent="0" marL="0">
              <a:buNone/>
            </a:pPr>
            <a:r>
              <a:rPr lang="en-US" sz="1500" b="1" dirty="0">
                <a:solidFill>
                  <a:schemeClr val="tx2"/>
                </a:solidFill>
              </a:rPr>
              <a:t>Late data</a:t>
            </a:r>
            <a:endParaRPr lang="en-US" sz="1500" dirty="0"/>
          </a:p>
        </p:txBody>
      </p:sp>
      <p:sp>
        <p:nvSpPr>
          <p:cNvPr id="16" name="Text 13"/>
          <p:cNvSpPr txBox="1"/>
          <p:nvPr/>
        </p:nvSpPr>
        <p:spPr>
          <a:xfrm>
            <a:off x="8387824" y="5522976"/>
            <a:ext cx="3072351" cy="548640"/>
          </a:xfrm>
          <a:prstGeom prst="rect">
            <a:avLst/>
          </a:prstGeom>
          <a:noFill/>
          <a:ln/>
        </p:spPr>
        <p:txBody>
          <a:bodyPr wrap="square" lIns="0" tIns="0" rIns="0" bIns="0" rtlCol="0" anchor="t"/>
          <a:lstStyle/>
          <a:p>
            <a:pPr indent="0" marL="0">
              <a:buNone/>
            </a:pPr>
            <a:r>
              <a:rPr lang="en-US" sz="1250" dirty="0">
                <a:solidFill>
                  <a:schemeClr val="tx1"/>
                </a:solidFill>
              </a:rPr>
              <a:t>Kegiatan dated in a frozen window show as Tambahan Susulan in the next report.</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lIns="0" tIns="0" rIns="0" bIns="0" rtlCol="0" anchor="b"/>
          <a:lstStyle/>
          <a:p>
            <a:pPr indent="0" marL="0">
              <a:buNone/>
            </a:pPr>
            <a:r>
              <a:rPr lang="en-US" sz="2400" dirty="0">
                <a:solidFill>
                  <a:schemeClr val="bg2"/>
                </a:solidFill>
              </a:rPr>
              <a:t>Part two</a:t>
            </a: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lIns="0" tIns="0" rIns="0" bIns="0" rtlCol="0" anchor="t"/>
          <a:lstStyle/>
          <a:p>
            <a:pPr algn="l" indent="0" marL="0">
              <a:buNone/>
            </a:pPr>
            <a:r>
              <a:rPr lang="en-US" sz="4400" b="1" spc="-100" kern="0" dirty="0">
                <a:solidFill>
                  <a:schemeClr val="bg1"/>
                </a:solidFill>
              </a:rPr>
              <a:t>RENSTRA and International Awards</a:t>
            </a: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lIns="0" tIns="0" rIns="0" bIns="0" rtlCol="0" anchor="t"/>
          <a:lstStyle/>
          <a:p>
            <a:pPr indent="0" marL="0">
              <a:buNone/>
            </a:pPr>
            <a:r>
              <a:rPr lang="en-US" sz="1800" dirty="0">
                <a:solidFill>
                  <a:schemeClr val="bg2"/>
                </a:solidFill>
              </a:rPr>
              <a:t>Only verified kegiatan count, by start date, per unit: a Fakultas includes its Program Studi and Programs.</a:t>
            </a:r>
            <a:endParaRPr lang="en-US" sz="1800" dirty="0"/>
          </a:p>
        </p:txBody>
      </p:sp>
      <p:pic>
        <p:nvPicPr>
          <p:cNvPr id="5" name="amber half ring" descr="preencoded.png">    </p:cNvPr>
          <p:cNvPicPr>
            <a:picLocks noChangeAspect="1"/>
          </p:cNvPicPr>
          <p:nvPr/>
        </p:nvPicPr>
        <p:blipFill>
          <a:blip r:embed="rId1"/>
          <a:stretch>
            <a:fillRect/>
          </a:stretch>
        </p:blipFill>
        <p:spPr>
          <a:xfrm>
            <a:off x="8778240" y="0"/>
            <a:ext cx="4206240" cy="2103120"/>
          </a:xfrm>
          <a:prstGeom prst="rect">
            <a:avLst/>
          </a:prstGeom>
        </p:spPr>
      </p:pic>
      <p:pic>
        <p:nvPicPr>
          <p:cNvPr id="6" name="teal half ring" descr="preencoded.png">    </p:cNvPr>
          <p:cNvPicPr>
            <a:picLocks noChangeAspect="1"/>
          </p:cNvPicPr>
          <p:nvPr/>
        </p:nvPicPr>
        <p:blipFill>
          <a:blip r:embed="rId2"/>
          <a:stretch>
            <a:fillRect/>
          </a:stretch>
        </p:blipFill>
        <p:spPr>
          <a:xfrm>
            <a:off x="9326880" y="4937760"/>
            <a:ext cx="3840480" cy="192024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RENSTRA INDICATORS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Three indicators, five numbers</a:t>
            </a:r>
            <a:endParaRPr lang="en-US" sz="3200" dirty="0"/>
          </a:p>
        </p:txBody>
      </p:sp>
      <p:sp>
        <p:nvSpPr>
          <p:cNvPr id="4" name="indicator card"/>
          <p:cNvSpPr/>
          <p:nvPr/>
        </p:nvSpPr>
        <p:spPr>
          <a:xfrm>
            <a:off x="548640" y="1645920"/>
            <a:ext cx="3520440" cy="4526280"/>
          </a:xfrm>
          <a:prstGeom prst="roundRect">
            <a:avLst>
              <a:gd name="adj" fmla="val 2078"/>
            </a:avLst>
          </a:prstGeom>
          <a:solidFill>
            <a:schemeClr val="bg2"/>
          </a:solidFill>
          <a:ln w="12700">
            <a:solidFill>
              <a:schemeClr val="bg2"/>
            </a:solidFill>
            <a:prstDash val="solid"/>
          </a:ln>
        </p:spPr>
      </p:sp>
      <p:sp>
        <p:nvSpPr>
          <p:cNvPr id="5" name="Text 3"/>
          <p:cNvSpPr txBox="1"/>
          <p:nvPr/>
        </p:nvSpPr>
        <p:spPr>
          <a:xfrm>
            <a:off x="822960" y="1874520"/>
            <a:ext cx="3017520" cy="640080"/>
          </a:xfrm>
          <a:prstGeom prst="rect">
            <a:avLst/>
          </a:prstGeom>
          <a:noFill/>
          <a:ln/>
        </p:spPr>
        <p:txBody>
          <a:bodyPr wrap="square" lIns="0" tIns="0" rIns="0" bIns="0" rtlCol="0" anchor="t"/>
          <a:lstStyle/>
          <a:p>
            <a:pPr indent="0" marL="0">
              <a:buNone/>
            </a:pPr>
            <a:r>
              <a:rPr lang="en-US" sz="3600" b="1" spc="-100" kern="0" dirty="0">
                <a:solidFill>
                  <a:schemeClr val="tx2"/>
                </a:solidFill>
              </a:rPr>
              <a:t>1.1</a:t>
            </a:r>
            <a:endParaRPr lang="en-US" sz="3600" dirty="0"/>
          </a:p>
        </p:txBody>
      </p:sp>
      <p:sp>
        <p:nvSpPr>
          <p:cNvPr id="6" name="Text 4"/>
          <p:cNvSpPr txBox="1"/>
          <p:nvPr/>
        </p:nvSpPr>
        <p:spPr>
          <a:xfrm>
            <a:off x="822960" y="2560320"/>
            <a:ext cx="3017520" cy="640080"/>
          </a:xfrm>
          <a:prstGeom prst="rect">
            <a:avLst/>
          </a:prstGeom>
          <a:noFill/>
          <a:ln/>
        </p:spPr>
        <p:txBody>
          <a:bodyPr wrap="square" lIns="0" tIns="0" rIns="0" bIns="0" rtlCol="0" anchor="t"/>
          <a:lstStyle/>
          <a:p>
            <a:pPr indent="0" marL="0">
              <a:buNone/>
            </a:pPr>
            <a:r>
              <a:rPr lang="en-US" sz="1600" b="1" dirty="0">
                <a:solidFill>
                  <a:schemeClr val="tx1"/>
                </a:solidFill>
              </a:rPr>
              <a:t>Students inbound and outbound</a:t>
            </a:r>
            <a:endParaRPr lang="en-US" sz="1600" dirty="0"/>
          </a:p>
        </p:txBody>
      </p:sp>
      <p:sp>
        <p:nvSpPr>
          <p:cNvPr id="7" name="Text 5"/>
          <p:cNvSpPr txBox="1"/>
          <p:nvPr/>
        </p:nvSpPr>
        <p:spPr>
          <a:xfrm>
            <a:off x="822960" y="3291840"/>
            <a:ext cx="301752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(NRP, kegiatan) pairs from the approved participant list of verified mobility kegiatan.</a:t>
            </a:r>
            <a:endParaRPr lang="en-US" sz="1400" dirty="0"/>
          </a:p>
          <a:p>
            <a:pPr marL="177800" indent="-177800">
              <a:spcAft>
                <a:spcPts val="600"/>
              </a:spcAft>
              <a:buSzPct val="100000"/>
              <a:buChar char="•"/>
            </a:pPr>
            <a:r>
              <a:rPr lang="en-US" sz="1400" dirty="0">
                <a:solidFill>
                  <a:schemeClr val="tx1"/>
                </a:solidFill>
              </a:rPr>
              <a:t>Split as 1.1.a Inbound and 1.1.b Outbound.</a:t>
            </a:r>
            <a:endParaRPr lang="en-US" sz="1400" dirty="0"/>
          </a:p>
          <a:p>
            <a:pPr marL="177800" indent="-177800">
              <a:spcAft>
                <a:spcPts val="600"/>
              </a:spcAft>
              <a:buSzPct val="100000"/>
              <a:buChar char="•"/>
            </a:pPr>
            <a:r>
              <a:rPr lang="en-US" sz="1400" dirty="0">
                <a:solidFill>
                  <a:schemeClr val="tx1"/>
                </a:solidFill>
              </a:rPr>
              <a:t>Same student, two units, overlapping dates: counted once, for the kegiatan KUI kept.</a:t>
            </a:r>
            <a:endParaRPr lang="en-US" sz="1400" dirty="0"/>
          </a:p>
        </p:txBody>
      </p:sp>
      <p:sp>
        <p:nvSpPr>
          <p:cNvPr id="8" name="indicator card"/>
          <p:cNvSpPr/>
          <p:nvPr/>
        </p:nvSpPr>
        <p:spPr>
          <a:xfrm>
            <a:off x="4270248" y="1645920"/>
            <a:ext cx="3520440" cy="4526280"/>
          </a:xfrm>
          <a:prstGeom prst="roundRect">
            <a:avLst>
              <a:gd name="adj" fmla="val 2078"/>
            </a:avLst>
          </a:prstGeom>
          <a:solidFill>
            <a:schemeClr val="bg2"/>
          </a:solidFill>
          <a:ln w="12700">
            <a:solidFill>
              <a:schemeClr val="bg2"/>
            </a:solidFill>
            <a:prstDash val="solid"/>
          </a:ln>
        </p:spPr>
      </p:sp>
      <p:sp>
        <p:nvSpPr>
          <p:cNvPr id="9" name="Text 7"/>
          <p:cNvSpPr txBox="1"/>
          <p:nvPr/>
        </p:nvSpPr>
        <p:spPr>
          <a:xfrm>
            <a:off x="4544568" y="1874520"/>
            <a:ext cx="3017520" cy="640080"/>
          </a:xfrm>
          <a:prstGeom prst="rect">
            <a:avLst/>
          </a:prstGeom>
          <a:noFill/>
          <a:ln/>
        </p:spPr>
        <p:txBody>
          <a:bodyPr wrap="square" lIns="0" tIns="0" rIns="0" bIns="0" rtlCol="0" anchor="t"/>
          <a:lstStyle/>
          <a:p>
            <a:pPr indent="0" marL="0">
              <a:buNone/>
            </a:pPr>
            <a:r>
              <a:rPr lang="en-US" sz="3600" b="1" spc="-100" kern="0" dirty="0">
                <a:solidFill>
                  <a:schemeClr val="tx2"/>
                </a:solidFill>
              </a:rPr>
              <a:t>1.19.S1</a:t>
            </a:r>
            <a:endParaRPr lang="en-US" sz="3600" dirty="0"/>
          </a:p>
        </p:txBody>
      </p:sp>
      <p:sp>
        <p:nvSpPr>
          <p:cNvPr id="10" name="Text 8"/>
          <p:cNvSpPr txBox="1"/>
          <p:nvPr/>
        </p:nvSpPr>
        <p:spPr>
          <a:xfrm>
            <a:off x="4544568" y="2560320"/>
            <a:ext cx="3017520" cy="640080"/>
          </a:xfrm>
          <a:prstGeom prst="rect">
            <a:avLst/>
          </a:prstGeom>
          <a:noFill/>
          <a:ln/>
        </p:spPr>
        <p:txBody>
          <a:bodyPr wrap="square" lIns="0" tIns="0" rIns="0" bIns="0" rtlCol="0" anchor="t"/>
          <a:lstStyle/>
          <a:p>
            <a:pPr indent="0" marL="0">
              <a:buNone/>
            </a:pPr>
            <a:r>
              <a:rPr lang="en-US" sz="1600" b="1" dirty="0">
                <a:solidFill>
                  <a:schemeClr val="tx1"/>
                </a:solidFill>
              </a:rPr>
              <a:t>International kegiatan with partners</a:t>
            </a:r>
            <a:endParaRPr lang="en-US" sz="1600" dirty="0"/>
          </a:p>
        </p:txBody>
      </p:sp>
      <p:sp>
        <p:nvSpPr>
          <p:cNvPr id="11" name="Text 9"/>
          <p:cNvSpPr txBox="1"/>
          <p:nvPr/>
        </p:nvSpPr>
        <p:spPr>
          <a:xfrm>
            <a:off x="4544568" y="3291840"/>
            <a:ext cx="301752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Verified kegiatan whose Jenis counts for S1 and whose agreement has a foreign partner.</a:t>
            </a:r>
            <a:endParaRPr lang="en-US" sz="1400" dirty="0"/>
          </a:p>
          <a:p>
            <a:pPr marL="177800" indent="-177800">
              <a:spcAft>
                <a:spcPts val="600"/>
              </a:spcAft>
              <a:buSzPct val="100000"/>
              <a:buChar char="•"/>
            </a:pPr>
            <a:r>
              <a:rPr lang="en-US" sz="1400" dirty="0">
                <a:solidFill>
                  <a:schemeClr val="tx1"/>
                </a:solidFill>
              </a:rPr>
              <a:t>The domestic count is shown alongside.</a:t>
            </a:r>
            <a:endParaRPr lang="en-US" sz="1400" dirty="0"/>
          </a:p>
        </p:txBody>
      </p:sp>
      <p:sp>
        <p:nvSpPr>
          <p:cNvPr id="12" name="indicator card"/>
          <p:cNvSpPr/>
          <p:nvPr/>
        </p:nvSpPr>
        <p:spPr>
          <a:xfrm>
            <a:off x="7991856" y="1645920"/>
            <a:ext cx="3520440" cy="4526280"/>
          </a:xfrm>
          <a:prstGeom prst="roundRect">
            <a:avLst>
              <a:gd name="adj" fmla="val 2078"/>
            </a:avLst>
          </a:prstGeom>
          <a:solidFill>
            <a:schemeClr val="bg2"/>
          </a:solidFill>
          <a:ln w="12700">
            <a:solidFill>
              <a:schemeClr val="bg2"/>
            </a:solidFill>
            <a:prstDash val="solid"/>
          </a:ln>
        </p:spPr>
      </p:sp>
      <p:sp>
        <p:nvSpPr>
          <p:cNvPr id="13" name="Text 11"/>
          <p:cNvSpPr txBox="1"/>
          <p:nvPr/>
        </p:nvSpPr>
        <p:spPr>
          <a:xfrm>
            <a:off x="8266176" y="1874520"/>
            <a:ext cx="3017520" cy="640080"/>
          </a:xfrm>
          <a:prstGeom prst="rect">
            <a:avLst/>
          </a:prstGeom>
          <a:noFill/>
          <a:ln/>
        </p:spPr>
        <p:txBody>
          <a:bodyPr wrap="square" lIns="0" tIns="0" rIns="0" bIns="0" rtlCol="0" anchor="t"/>
          <a:lstStyle/>
          <a:p>
            <a:pPr indent="0" marL="0">
              <a:buNone/>
            </a:pPr>
            <a:r>
              <a:rPr lang="en-US" sz="3600" b="1" spc="-100" kern="0" dirty="0">
                <a:solidFill>
                  <a:schemeClr val="tx2"/>
                </a:solidFill>
              </a:rPr>
              <a:t>1.19.S4</a:t>
            </a:r>
            <a:endParaRPr lang="en-US" sz="3600" dirty="0"/>
          </a:p>
        </p:txBody>
      </p:sp>
      <p:sp>
        <p:nvSpPr>
          <p:cNvPr id="14" name="Text 12"/>
          <p:cNvSpPr txBox="1"/>
          <p:nvPr/>
        </p:nvSpPr>
        <p:spPr>
          <a:xfrm>
            <a:off x="8266176" y="2560320"/>
            <a:ext cx="3017520" cy="640080"/>
          </a:xfrm>
          <a:prstGeom prst="rect">
            <a:avLst/>
          </a:prstGeom>
          <a:noFill/>
          <a:ln/>
        </p:spPr>
        <p:txBody>
          <a:bodyPr wrap="square" lIns="0" tIns="0" rIns="0" bIns="0" rtlCol="0" anchor="t"/>
          <a:lstStyle/>
          <a:p>
            <a:pPr indent="0" marL="0">
              <a:buNone/>
            </a:pPr>
            <a:r>
              <a:rPr lang="en-US" sz="1600" b="1" dirty="0">
                <a:solidFill>
                  <a:schemeClr val="tx1"/>
                </a:solidFill>
              </a:rPr>
              <a:t>Share of MoU and MoA realized</a:t>
            </a:r>
            <a:endParaRPr lang="en-US" sz="1600" dirty="0"/>
          </a:p>
        </p:txBody>
      </p:sp>
      <p:sp>
        <p:nvSpPr>
          <p:cNvPr id="15" name="Text 13"/>
          <p:cNvSpPr txBox="1"/>
          <p:nvPr/>
        </p:nvSpPr>
        <p:spPr>
          <a:xfrm>
            <a:off x="8266176" y="3291840"/>
            <a:ext cx="301752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Renewal chains with at least one verified IA in the year, over chains active in that window.</a:t>
            </a:r>
            <a:endParaRPr lang="en-US" sz="1400" dirty="0"/>
          </a:p>
          <a:p>
            <a:pPr marL="177800" indent="-177800">
              <a:spcAft>
                <a:spcPts val="600"/>
              </a:spcAft>
              <a:buSzPct val="100000"/>
              <a:buChar char="•"/>
            </a:pPr>
            <a:r>
              <a:rPr lang="en-US" sz="1400" dirty="0">
                <a:solidFill>
                  <a:schemeClr val="tx1"/>
                </a:solidFill>
              </a:rPr>
              <a:t>Chains signed within 6 months of the cutoff are excluded and listed; auto-renewed chains always count.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PERIODS, AWARDS AND REPORTS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How the numbers are cut and shared</a:t>
            </a:r>
            <a:endParaRPr lang="en-US" sz="3200" dirty="0"/>
          </a:p>
        </p:txBody>
      </p:sp>
      <p:sp>
        <p:nvSpPr>
          <p:cNvPr id="4" name="period card"/>
          <p:cNvSpPr/>
          <p:nvPr/>
        </p:nvSpPr>
        <p:spPr>
          <a:xfrm>
            <a:off x="548640" y="1645920"/>
            <a:ext cx="2606040" cy="1417320"/>
          </a:xfrm>
          <a:prstGeom prst="roundRect">
            <a:avLst>
              <a:gd name="adj" fmla="val 5161"/>
            </a:avLst>
          </a:prstGeom>
          <a:solidFill>
            <a:schemeClr val="bg2"/>
          </a:solidFill>
          <a:ln w="12700">
            <a:solidFill>
              <a:schemeClr val="bg2"/>
            </a:solidFill>
            <a:prstDash val="solid"/>
          </a:ln>
        </p:spPr>
      </p:sp>
      <p:sp>
        <p:nvSpPr>
          <p:cNvPr id="5" name="Text 3"/>
          <p:cNvSpPr txBox="1"/>
          <p:nvPr/>
        </p:nvSpPr>
        <p:spPr>
          <a:xfrm>
            <a:off x="777240" y="1810512"/>
            <a:ext cx="2194560" cy="411480"/>
          </a:xfrm>
          <a:prstGeom prst="rect">
            <a:avLst/>
          </a:prstGeom>
          <a:noFill/>
          <a:ln/>
        </p:spPr>
        <p:txBody>
          <a:bodyPr wrap="square" lIns="0" tIns="0" rIns="0" bIns="0" rtlCol="0" anchor="t"/>
          <a:lstStyle/>
          <a:p>
            <a:pPr indent="0" marL="0">
              <a:buNone/>
            </a:pPr>
            <a:r>
              <a:rPr lang="en-US" sz="2000" b="1" dirty="0">
                <a:solidFill>
                  <a:schemeClr val="tx2"/>
                </a:solidFill>
              </a:rPr>
              <a:t>Ganjil</a:t>
            </a:r>
            <a:endParaRPr lang="en-US" sz="2000" dirty="0"/>
          </a:p>
        </p:txBody>
      </p:sp>
      <p:sp>
        <p:nvSpPr>
          <p:cNvPr id="6" name="Text 4"/>
          <p:cNvSpPr txBox="1"/>
          <p:nvPr/>
        </p:nvSpPr>
        <p:spPr>
          <a:xfrm>
            <a:off x="777240" y="2286000"/>
            <a:ext cx="2194560" cy="731520"/>
          </a:xfrm>
          <a:prstGeom prst="rect">
            <a:avLst/>
          </a:prstGeom>
          <a:noFill/>
          <a:ln/>
        </p:spPr>
        <p:txBody>
          <a:bodyPr wrap="square" lIns="0" tIns="0" rIns="0" bIns="0" rtlCol="0" anchor="t"/>
          <a:lstStyle/>
          <a:p>
            <a:pPr indent="0" marL="0">
              <a:buNone/>
            </a:pPr>
            <a:r>
              <a:rPr lang="en-US" sz="1300" dirty="0">
                <a:solidFill>
                  <a:schemeClr val="tx1"/>
                </a:solidFill>
              </a:rPr>
              <a:t>Ganjil start to end; read from its frozen snapshot.</a:t>
            </a:r>
            <a:endParaRPr lang="en-US" sz="1300" dirty="0"/>
          </a:p>
        </p:txBody>
      </p:sp>
      <p:sp>
        <p:nvSpPr>
          <p:cNvPr id="7" name="period card"/>
          <p:cNvSpPr/>
          <p:nvPr/>
        </p:nvSpPr>
        <p:spPr>
          <a:xfrm>
            <a:off x="3337560" y="1645920"/>
            <a:ext cx="2606040" cy="1417320"/>
          </a:xfrm>
          <a:prstGeom prst="roundRect">
            <a:avLst>
              <a:gd name="adj" fmla="val 5161"/>
            </a:avLst>
          </a:prstGeom>
          <a:solidFill>
            <a:schemeClr val="bg2"/>
          </a:solidFill>
          <a:ln w="12700">
            <a:solidFill>
              <a:schemeClr val="bg2"/>
            </a:solidFill>
            <a:prstDash val="solid"/>
          </a:ln>
        </p:spPr>
      </p:sp>
      <p:sp>
        <p:nvSpPr>
          <p:cNvPr id="8" name="Text 6"/>
          <p:cNvSpPr txBox="1"/>
          <p:nvPr/>
        </p:nvSpPr>
        <p:spPr>
          <a:xfrm>
            <a:off x="3566160" y="1810512"/>
            <a:ext cx="2194560" cy="411480"/>
          </a:xfrm>
          <a:prstGeom prst="rect">
            <a:avLst/>
          </a:prstGeom>
          <a:noFill/>
          <a:ln/>
        </p:spPr>
        <p:txBody>
          <a:bodyPr wrap="square" lIns="0" tIns="0" rIns="0" bIns="0" rtlCol="0" anchor="t"/>
          <a:lstStyle/>
          <a:p>
            <a:pPr indent="0" marL="0">
              <a:buNone/>
            </a:pPr>
            <a:r>
              <a:rPr lang="en-US" sz="2000" b="1" dirty="0">
                <a:solidFill>
                  <a:schemeClr val="tx2"/>
                </a:solidFill>
              </a:rPr>
              <a:t>Genap</a:t>
            </a:r>
            <a:endParaRPr lang="en-US" sz="2000" dirty="0"/>
          </a:p>
        </p:txBody>
      </p:sp>
      <p:sp>
        <p:nvSpPr>
          <p:cNvPr id="9" name="Text 7"/>
          <p:cNvSpPr txBox="1"/>
          <p:nvPr/>
        </p:nvSpPr>
        <p:spPr>
          <a:xfrm>
            <a:off x="3566160" y="2286000"/>
            <a:ext cx="2194560" cy="731520"/>
          </a:xfrm>
          <a:prstGeom prst="rect">
            <a:avLst/>
          </a:prstGeom>
          <a:noFill/>
          <a:ln/>
        </p:spPr>
        <p:txBody>
          <a:bodyPr wrap="square" lIns="0" tIns="0" rIns="0" bIns="0" rtlCol="0" anchor="t"/>
          <a:lstStyle/>
          <a:p>
            <a:pPr indent="0" marL="0">
              <a:buNone/>
            </a:pPr>
            <a:r>
              <a:rPr lang="en-US" sz="1300" dirty="0">
                <a:solidFill>
                  <a:schemeClr val="tx1"/>
                </a:solidFill>
              </a:rPr>
              <a:t>Genap start to end, as of the full-year freeze.</a:t>
            </a:r>
            <a:endParaRPr lang="en-US" sz="1300" dirty="0"/>
          </a:p>
        </p:txBody>
      </p:sp>
      <p:sp>
        <p:nvSpPr>
          <p:cNvPr id="10" name="period card"/>
          <p:cNvSpPr/>
          <p:nvPr/>
        </p:nvSpPr>
        <p:spPr>
          <a:xfrm>
            <a:off x="6126480" y="1645920"/>
            <a:ext cx="2606040"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6355080" y="1810512"/>
            <a:ext cx="2194560" cy="411480"/>
          </a:xfrm>
          <a:prstGeom prst="rect">
            <a:avLst/>
          </a:prstGeom>
          <a:noFill/>
          <a:ln/>
        </p:spPr>
        <p:txBody>
          <a:bodyPr wrap="square" lIns="0" tIns="0" rIns="0" bIns="0" rtlCol="0" anchor="t"/>
          <a:lstStyle/>
          <a:p>
            <a:pPr indent="0" marL="0">
              <a:buNone/>
            </a:pPr>
            <a:r>
              <a:rPr lang="en-US" sz="2000" b="1" dirty="0">
                <a:solidFill>
                  <a:schemeClr val="tx2"/>
                </a:solidFill>
              </a:rPr>
              <a:t>Setahun</a:t>
            </a:r>
            <a:endParaRPr lang="en-US" sz="2000" dirty="0"/>
          </a:p>
        </p:txBody>
      </p:sp>
      <p:sp>
        <p:nvSpPr>
          <p:cNvPr id="12" name="Text 10"/>
          <p:cNvSpPr txBox="1"/>
          <p:nvPr/>
        </p:nvSpPr>
        <p:spPr>
          <a:xfrm>
            <a:off x="6355080" y="2286000"/>
            <a:ext cx="2194560" cy="731520"/>
          </a:xfrm>
          <a:prstGeom prst="rect">
            <a:avLst/>
          </a:prstGeom>
          <a:noFill/>
          <a:ln/>
        </p:spPr>
        <p:txBody>
          <a:bodyPr wrap="square" lIns="0" tIns="0" rIns="0" bIns="0" rtlCol="0" anchor="t"/>
          <a:lstStyle/>
          <a:p>
            <a:pPr indent="0" marL="0">
              <a:buNone/>
            </a:pPr>
            <a:r>
              <a:rPr lang="en-US" sz="1300" dirty="0">
                <a:solidFill>
                  <a:schemeClr val="tx1"/>
                </a:solidFill>
              </a:rPr>
              <a:t>Academic-year start to end; the full-year snapshot.</a:t>
            </a:r>
            <a:endParaRPr lang="en-US" sz="1300" dirty="0"/>
          </a:p>
        </p:txBody>
      </p:sp>
      <p:sp>
        <p:nvSpPr>
          <p:cNvPr id="13" name="period card"/>
          <p:cNvSpPr/>
          <p:nvPr/>
        </p:nvSpPr>
        <p:spPr>
          <a:xfrm>
            <a:off x="8915400" y="1645920"/>
            <a:ext cx="2606040" cy="1417320"/>
          </a:xfrm>
          <a:prstGeom prst="roundRect">
            <a:avLst>
              <a:gd name="adj" fmla="val 5161"/>
            </a:avLst>
          </a:prstGeom>
          <a:solidFill>
            <a:schemeClr val="bg2"/>
          </a:solidFill>
          <a:ln w="12700">
            <a:solidFill>
              <a:schemeClr val="bg2"/>
            </a:solidFill>
            <a:prstDash val="solid"/>
          </a:ln>
        </p:spPr>
      </p:sp>
      <p:sp>
        <p:nvSpPr>
          <p:cNvPr id="14" name="Text 12"/>
          <p:cNvSpPr txBox="1"/>
          <p:nvPr/>
        </p:nvSpPr>
        <p:spPr>
          <a:xfrm>
            <a:off x="9144000" y="1810512"/>
            <a:ext cx="2194560" cy="411480"/>
          </a:xfrm>
          <a:prstGeom prst="rect">
            <a:avLst/>
          </a:prstGeom>
          <a:noFill/>
          <a:ln/>
        </p:spPr>
        <p:txBody>
          <a:bodyPr wrap="square" lIns="0" tIns="0" rIns="0" bIns="0" rtlCol="0" anchor="t"/>
          <a:lstStyle/>
          <a:p>
            <a:pPr indent="0" marL="0">
              <a:buNone/>
            </a:pPr>
            <a:r>
              <a:rPr lang="en-US" sz="2000" b="1" dirty="0">
                <a:solidFill>
                  <a:schemeClr val="tx2"/>
                </a:solidFill>
              </a:rPr>
              <a:t>YTD</a:t>
            </a:r>
            <a:endParaRPr lang="en-US" sz="2000" dirty="0"/>
          </a:p>
        </p:txBody>
      </p:sp>
      <p:sp>
        <p:nvSpPr>
          <p:cNvPr id="15" name="Text 13"/>
          <p:cNvSpPr txBox="1"/>
          <p:nvPr/>
        </p:nvSpPr>
        <p:spPr>
          <a:xfrm>
            <a:off x="9144000" y="2286000"/>
            <a:ext cx="2194560" cy="731520"/>
          </a:xfrm>
          <a:prstGeom prst="rect">
            <a:avLst/>
          </a:prstGeom>
          <a:noFill/>
          <a:ln/>
        </p:spPr>
        <p:txBody>
          <a:bodyPr wrap="square" lIns="0" tIns="0" rIns="0" bIns="0" rtlCol="0" anchor="t"/>
          <a:lstStyle/>
          <a:p>
            <a:pPr indent="0" marL="0">
              <a:buNone/>
            </a:pPr>
            <a:r>
              <a:rPr lang="en-US" sz="1300" dirty="0">
                <a:solidFill>
                  <a:schemeClr val="tx1"/>
                </a:solidFill>
              </a:rPr>
              <a:t>Year start to today; only for the active year, never frozen.</a:t>
            </a:r>
            <a:endParaRPr lang="en-US" sz="1300" dirty="0"/>
          </a:p>
        </p:txBody>
      </p:sp>
      <p:sp>
        <p:nvSpPr>
          <p:cNvPr id="16" name="awards card"/>
          <p:cNvSpPr/>
          <p:nvPr/>
        </p:nvSpPr>
        <p:spPr>
          <a:xfrm>
            <a:off x="548640" y="3291840"/>
            <a:ext cx="5440680" cy="2880360"/>
          </a:xfrm>
          <a:prstGeom prst="roundRect">
            <a:avLst>
              <a:gd name="adj" fmla="val 2540"/>
            </a:avLst>
          </a:prstGeom>
          <a:solidFill>
            <a:schemeClr val="tx2"/>
          </a:solidFill>
          <a:ln w="12700">
            <a:solidFill>
              <a:schemeClr val="tx2"/>
            </a:solidFill>
            <a:prstDash val="solid"/>
          </a:ln>
        </p:spPr>
      </p:sp>
      <p:sp>
        <p:nvSpPr>
          <p:cNvPr id="17" name="Text 15"/>
          <p:cNvSpPr txBox="1"/>
          <p:nvPr/>
        </p:nvSpPr>
        <p:spPr>
          <a:xfrm>
            <a:off x="822960" y="3493008"/>
            <a:ext cx="4846320" cy="411480"/>
          </a:xfrm>
          <a:prstGeom prst="rect">
            <a:avLst/>
          </a:prstGeom>
          <a:noFill/>
          <a:ln/>
        </p:spPr>
        <p:txBody>
          <a:bodyPr wrap="square" lIns="0" tIns="0" rIns="0" bIns="0" rtlCol="0" anchor="t"/>
          <a:lstStyle/>
          <a:p>
            <a:pPr indent="0" marL="0">
              <a:buNone/>
            </a:pPr>
            <a:r>
              <a:rPr lang="en-US" sz="2000" b="1" dirty="0">
                <a:solidFill>
                  <a:schemeClr val="bg1"/>
                </a:solidFill>
              </a:rPr>
              <a:t>International Awards</a:t>
            </a:r>
            <a:endParaRPr lang="en-US" sz="2000" dirty="0"/>
          </a:p>
        </p:txBody>
      </p:sp>
      <p:sp>
        <p:nvSpPr>
          <p:cNvPr id="18" name="Text 16"/>
          <p:cNvSpPr txBox="1"/>
          <p:nvPr/>
        </p:nvSpPr>
        <p:spPr>
          <a:xfrm>
            <a:off x="822960" y="4023360"/>
            <a:ext cx="489204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Ranks Program Studi only; each student credited to their own Program Studi.</a:t>
            </a:r>
            <a:endParaRPr lang="en-US" sz="1400" dirty="0"/>
          </a:p>
          <a:p>
            <a:pPr marL="177800" indent="-177800">
              <a:spcAft>
                <a:spcPts val="600"/>
              </a:spcAft>
              <a:buSzPct val="100000"/>
              <a:buChar char="•"/>
            </a:pPr>
            <a:r>
              <a:rPr lang="en-US" sz="1400" dirty="0">
                <a:solidFill>
                  <a:schemeClr val="bg1"/>
                </a:solidFill>
              </a:rPr>
              <a:t>Boards: Inbound, Outbound Dalam Negeri, Outbound Internasional, Inisiatif Internasional.</a:t>
            </a:r>
            <a:endParaRPr lang="en-US" sz="1400" dirty="0"/>
          </a:p>
          <a:p>
            <a:pPr marL="177800" indent="-177800">
              <a:spcAft>
                <a:spcPts val="600"/>
              </a:spcAft>
              <a:buSzPct val="100000"/>
              <a:buChar char="•"/>
            </a:pPr>
            <a:r>
              <a:rPr lang="en-US" sz="1400" dirty="0">
                <a:solidFill>
                  <a:schemeClr val="bg1"/>
                </a:solidFill>
              </a:rPr>
              <a:t>Only the top 3 of each board, ties at rank 3 kept.</a:t>
            </a:r>
            <a:endParaRPr lang="en-US" sz="1400" dirty="0"/>
          </a:p>
        </p:txBody>
      </p:sp>
      <p:sp>
        <p:nvSpPr>
          <p:cNvPr id="19" name="reports card"/>
          <p:cNvSpPr/>
          <p:nvPr/>
        </p:nvSpPr>
        <p:spPr>
          <a:xfrm>
            <a:off x="6172200" y="3291840"/>
            <a:ext cx="5440680" cy="2880360"/>
          </a:xfrm>
          <a:prstGeom prst="roundRect">
            <a:avLst>
              <a:gd name="adj" fmla="val 2540"/>
            </a:avLst>
          </a:prstGeom>
          <a:solidFill>
            <a:schemeClr val="bg2"/>
          </a:solidFill>
          <a:ln w="12700">
            <a:solidFill>
              <a:schemeClr val="bg2"/>
            </a:solidFill>
            <a:prstDash val="solid"/>
          </a:ln>
        </p:spPr>
      </p:sp>
      <p:sp>
        <p:nvSpPr>
          <p:cNvPr id="20" name="Text 18"/>
          <p:cNvSpPr txBox="1"/>
          <p:nvPr/>
        </p:nvSpPr>
        <p:spPr>
          <a:xfrm>
            <a:off x="6446520" y="3493008"/>
            <a:ext cx="4846320" cy="411480"/>
          </a:xfrm>
          <a:prstGeom prst="rect">
            <a:avLst/>
          </a:prstGeom>
          <a:noFill/>
          <a:ln/>
        </p:spPr>
        <p:txBody>
          <a:bodyPr wrap="square" lIns="0" tIns="0" rIns="0" bIns="0" rtlCol="0" anchor="t"/>
          <a:lstStyle/>
          <a:p>
            <a:pPr indent="0" marL="0">
              <a:buNone/>
            </a:pPr>
            <a:r>
              <a:rPr lang="en-US" sz="2000" b="1" dirty="0">
                <a:solidFill>
                  <a:schemeClr val="tx2"/>
                </a:solidFill>
              </a:rPr>
              <a:t>Reports and Excel</a:t>
            </a:r>
            <a:endParaRPr lang="en-US" sz="2000" dirty="0"/>
          </a:p>
        </p:txBody>
      </p:sp>
      <p:sp>
        <p:nvSpPr>
          <p:cNvPr id="21" name="Text 19"/>
          <p:cNvSpPr txBox="1"/>
          <p:nvPr/>
        </p:nvSpPr>
        <p:spPr>
          <a:xfrm>
            <a:off x="6446520" y="4023360"/>
            <a:ext cx="489204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One report per indicator; preview and Excel come from the same query.</a:t>
            </a:r>
            <a:endParaRPr lang="en-US" sz="1400" dirty="0"/>
          </a:p>
          <a:p>
            <a:pPr marL="177800" indent="-177800">
              <a:spcAft>
                <a:spcPts val="600"/>
              </a:spcAft>
              <a:buSzPct val="100000"/>
              <a:buChar char="•"/>
            </a:pPr>
            <a:r>
              <a:rPr lang="en-US" sz="1400" dirty="0">
                <a:solidFill>
                  <a:schemeClr val="tx1"/>
                </a:solidFill>
              </a:rPr>
              <a:t>Per-unit table with a Target column, then the kegiatan, then students where allowed.</a:t>
            </a:r>
            <a:endParaRPr lang="en-US" sz="1400" dirty="0"/>
          </a:p>
          <a:p>
            <a:pPr marL="177800" indent="-177800">
              <a:spcAft>
                <a:spcPts val="600"/>
              </a:spcAft>
              <a:buSzPct val="100000"/>
              <a:buChar char="•"/>
            </a:pPr>
            <a:r>
              <a:rPr lang="en-US" sz="1400" dirty="0">
                <a:solidFill>
                  <a:schemeClr val="tx1"/>
                </a:solidFill>
              </a:rPr>
              <a:t>No Info sheet; the export log records who exported what.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lIns="0" tIns="0" rIns="0" bIns="0" rtlCol="0" anchor="b"/>
          <a:lstStyle/>
          <a:p>
            <a:pPr indent="0" marL="0">
              <a:buNone/>
            </a:pPr>
            <a:r>
              <a:rPr lang="en-US" sz="2400" dirty="0">
                <a:solidFill>
                  <a:schemeClr val="bg2"/>
                </a:solidFill>
              </a:rPr>
              <a:t>Part three</a:t>
            </a: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lIns="0" tIns="0" rIns="0" bIns="0" rtlCol="0" anchor="t"/>
          <a:lstStyle/>
          <a:p>
            <a:pPr algn="l" indent="0" marL="0">
              <a:buNone/>
            </a:pPr>
            <a:r>
              <a:rPr lang="en-US" sz="4400" b="1" spc="-100" kern="0" dirty="0">
                <a:solidFill>
                  <a:schemeClr val="bg1"/>
                </a:solidFill>
              </a:rPr>
              <a:t>Data model and architecture</a:t>
            </a: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lIns="0" tIns="0" rIns="0" bIns="0" rtlCol="0" anchor="t"/>
          <a:lstStyle/>
          <a:p>
            <a:pPr indent="0" marL="0">
              <a:buNone/>
            </a:pPr>
            <a:r>
              <a:rPr lang="en-US" sz="1800" dirty="0">
                <a:solidFill>
                  <a:schemeClr val="bg2"/>
                </a:solidFill>
              </a:rPr>
              <a:t>One database shared with SIM Kerjasama. Business rules live in SQL, so screens, Excel and snapshots never disagree.</a:t>
            </a:r>
            <a:endParaRPr lang="en-US" sz="1800" dirty="0"/>
          </a:p>
        </p:txBody>
      </p:sp>
      <p:pic>
        <p:nvPicPr>
          <p:cNvPr id="5" name="amber half ring" descr="preencoded.png">    </p:cNvPr>
          <p:cNvPicPr>
            <a:picLocks noChangeAspect="1"/>
          </p:cNvPicPr>
          <p:nvPr/>
        </p:nvPicPr>
        <p:blipFill>
          <a:blip r:embed="rId1"/>
          <a:stretch>
            <a:fillRect/>
          </a:stretch>
        </p:blipFill>
        <p:spPr>
          <a:xfrm>
            <a:off x="8778240" y="0"/>
            <a:ext cx="4206240" cy="2103120"/>
          </a:xfrm>
          <a:prstGeom prst="rect">
            <a:avLst/>
          </a:prstGeom>
        </p:spPr>
      </p:pic>
      <p:pic>
        <p:nvPicPr>
          <p:cNvPr id="6" name="teal half ring" descr="preencoded.png">    </p:cNvPr>
          <p:cNvPicPr>
            <a:picLocks noChangeAspect="1"/>
          </p:cNvPicPr>
          <p:nvPr/>
        </p:nvPicPr>
        <p:blipFill>
          <a:blip r:embed="rId2"/>
          <a:stretch>
            <a:fillRect/>
          </a:stretch>
        </p:blipFill>
        <p:spPr>
          <a:xfrm>
            <a:off x="9326880" y="4937760"/>
            <a:ext cx="3840480" cy="192024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DATA MODEL</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40 tables and views, 33 relationships</a:t>
            </a:r>
            <a:endParaRPr lang="en-US" sz="3200" dirty="0"/>
          </a:p>
        </p:txBody>
      </p:sp>
      <p:pic>
        <p:nvPicPr>
          <p:cNvPr id="4" name="Image 0" descr="Entity relationship diagram of SIM Realisasi">    </p:cNvPr>
          <p:cNvPicPr>
            <a:picLocks noChangeAspect="1"/>
          </p:cNvPicPr>
          <p:nvPr/>
        </p:nvPicPr>
        <p:blipFill>
          <a:blip r:embed="rId1"/>
          <a:stretch>
            <a:fillRect/>
          </a:stretch>
        </p:blipFill>
        <p:spPr>
          <a:xfrm>
            <a:off x="548640" y="1554480"/>
            <a:ext cx="5113046" cy="4617720"/>
          </a:xfrm>
          <a:prstGeom prst="rect">
            <a:avLst/>
          </a:prstGeom>
        </p:spPr>
      </p:pic>
      <p:sp>
        <p:nvSpPr>
          <p:cNvPr id="5" name="Shape 2"/>
          <p:cNvSpPr/>
          <p:nvPr/>
        </p:nvSpPr>
        <p:spPr>
          <a:xfrm>
            <a:off x="6073166" y="1673352"/>
            <a:ext cx="155448" cy="155448"/>
          </a:xfrm>
          <a:prstGeom prst="ellipse">
            <a:avLst/>
          </a:prstGeom>
          <a:solidFill>
            <a:srgbClr val="6E7B8A"/>
          </a:solidFill>
          <a:ln w="12700">
            <a:solidFill>
              <a:srgbClr val="6E7B8A"/>
            </a:solidFill>
            <a:prstDash val="solid"/>
          </a:ln>
        </p:spPr>
      </p:sp>
      <p:sp>
        <p:nvSpPr>
          <p:cNvPr id="6" name="Text 3"/>
          <p:cNvSpPr txBox="1"/>
          <p:nvPr/>
        </p:nvSpPr>
        <p:spPr>
          <a:xfrm>
            <a:off x="6365774" y="1600200"/>
            <a:ext cx="5277281" cy="274320"/>
          </a:xfrm>
          <a:prstGeom prst="rect">
            <a:avLst/>
          </a:prstGeom>
          <a:noFill/>
          <a:ln/>
        </p:spPr>
        <p:txBody>
          <a:bodyPr wrap="square" lIns="0" tIns="0" rIns="0" bIns="0" rtlCol="0" anchor="t"/>
          <a:lstStyle/>
          <a:p>
            <a:pPr indent="0" marL="0">
              <a:buNone/>
            </a:pPr>
            <a:r>
              <a:rPr lang="en-US" sz="1400" b="1" dirty="0">
                <a:solidFill>
                  <a:schemeClr val="tx2"/>
                </a:solidFill>
              </a:rPr>
              <a:t>SIM Kerjasama views</a:t>
            </a:r>
            <a:endParaRPr lang="en-US" sz="1400" dirty="0"/>
          </a:p>
        </p:txBody>
      </p:sp>
      <p:sp>
        <p:nvSpPr>
          <p:cNvPr id="7" name="Text 4"/>
          <p:cNvSpPr txBox="1"/>
          <p:nvPr/>
        </p:nvSpPr>
        <p:spPr>
          <a:xfrm>
            <a:off x="6365774" y="1874520"/>
            <a:ext cx="5277281" cy="274320"/>
          </a:xfrm>
          <a:prstGeom prst="rect">
            <a:avLst/>
          </a:prstGeom>
          <a:noFill/>
          <a:ln/>
        </p:spPr>
        <p:txBody>
          <a:bodyPr wrap="square" lIns="0" tIns="0" rIns="0" bIns="0" rtlCol="0" anchor="t"/>
          <a:lstStyle/>
          <a:p>
            <a:pPr indent="0" marL="0">
              <a:buNone/>
            </a:pPr>
            <a:r>
              <a:rPr lang="en-US" sz="1200" dirty="0">
                <a:solidFill>
                  <a:srgbClr val="46505C"/>
                </a:solidFill>
              </a:rPr>
              <a:t>units, documents, partners, accounts — read only</a:t>
            </a:r>
            <a:endParaRPr lang="en-US" sz="1200" dirty="0"/>
          </a:p>
        </p:txBody>
      </p:sp>
      <p:sp>
        <p:nvSpPr>
          <p:cNvPr id="8" name="Shape 5"/>
          <p:cNvSpPr/>
          <p:nvPr/>
        </p:nvSpPr>
        <p:spPr>
          <a:xfrm>
            <a:off x="6073166" y="2276856"/>
            <a:ext cx="155448" cy="155448"/>
          </a:xfrm>
          <a:prstGeom prst="ellipse">
            <a:avLst/>
          </a:prstGeom>
          <a:solidFill>
            <a:srgbClr val="1F6FB2"/>
          </a:solidFill>
          <a:ln w="12700">
            <a:solidFill>
              <a:srgbClr val="1F6FB2"/>
            </a:solidFill>
            <a:prstDash val="solid"/>
          </a:ln>
        </p:spPr>
      </p:sp>
      <p:sp>
        <p:nvSpPr>
          <p:cNvPr id="9" name="Text 6"/>
          <p:cNvSpPr txBox="1"/>
          <p:nvPr/>
        </p:nvSpPr>
        <p:spPr>
          <a:xfrm>
            <a:off x="6365774" y="2203704"/>
            <a:ext cx="5277281" cy="274320"/>
          </a:xfrm>
          <a:prstGeom prst="rect">
            <a:avLst/>
          </a:prstGeom>
          <a:noFill/>
          <a:ln/>
        </p:spPr>
        <p:txBody>
          <a:bodyPr wrap="square" lIns="0" tIns="0" rIns="0" bIns="0" rtlCol="0" anchor="t"/>
          <a:lstStyle/>
          <a:p>
            <a:pPr indent="0" marL="0">
              <a:buNone/>
            </a:pPr>
            <a:r>
              <a:rPr lang="en-US" sz="1400" b="1" dirty="0">
                <a:solidFill>
                  <a:schemeClr val="tx2"/>
                </a:solidFill>
              </a:rPr>
              <a:t>Kegiatan</a:t>
            </a:r>
            <a:endParaRPr lang="en-US" sz="1400" dirty="0"/>
          </a:p>
        </p:txBody>
      </p:sp>
      <p:sp>
        <p:nvSpPr>
          <p:cNvPr id="10" name="Text 7"/>
          <p:cNvSpPr txBox="1"/>
          <p:nvPr/>
        </p:nvSpPr>
        <p:spPr>
          <a:xfrm>
            <a:off x="6365774" y="2478024"/>
            <a:ext cx="5277281" cy="274320"/>
          </a:xfrm>
          <a:prstGeom prst="rect">
            <a:avLst/>
          </a:prstGeom>
          <a:noFill/>
          <a:ln/>
        </p:spPr>
        <p:txBody>
          <a:bodyPr wrap="square" lIns="0" tIns="0" rIns="0" bIns="0" rtlCol="0" anchor="t"/>
          <a:lstStyle/>
          <a:p>
            <a:pPr indent="0" marL="0">
              <a:buNone/>
            </a:pPr>
            <a:r>
              <a:rPr lang="en-US" sz="1200" dirty="0">
                <a:solidFill>
                  <a:srgbClr val="46505C"/>
                </a:solidFill>
              </a:rPr>
              <a:t>the activity, its agreement, files, SDGs, guests</a:t>
            </a:r>
            <a:endParaRPr lang="en-US" sz="1200" dirty="0"/>
          </a:p>
        </p:txBody>
      </p:sp>
      <p:sp>
        <p:nvSpPr>
          <p:cNvPr id="11" name="Shape 8"/>
          <p:cNvSpPr/>
          <p:nvPr/>
        </p:nvSpPr>
        <p:spPr>
          <a:xfrm>
            <a:off x="6073166" y="2880360"/>
            <a:ext cx="155448" cy="155448"/>
          </a:xfrm>
          <a:prstGeom prst="ellipse">
            <a:avLst/>
          </a:prstGeom>
          <a:solidFill>
            <a:srgbClr val="1B8A6B"/>
          </a:solidFill>
          <a:ln w="12700">
            <a:solidFill>
              <a:srgbClr val="1B8A6B"/>
            </a:solidFill>
            <a:prstDash val="solid"/>
          </a:ln>
        </p:spPr>
      </p:sp>
      <p:sp>
        <p:nvSpPr>
          <p:cNvPr id="12" name="Text 9"/>
          <p:cNvSpPr txBox="1"/>
          <p:nvPr/>
        </p:nvSpPr>
        <p:spPr>
          <a:xfrm>
            <a:off x="6365774" y="2807208"/>
            <a:ext cx="5277281" cy="274320"/>
          </a:xfrm>
          <a:prstGeom prst="rect">
            <a:avLst/>
          </a:prstGeom>
          <a:noFill/>
          <a:ln/>
        </p:spPr>
        <p:txBody>
          <a:bodyPr wrap="square" lIns="0" tIns="0" rIns="0" bIns="0" rtlCol="0" anchor="t"/>
          <a:lstStyle/>
          <a:p>
            <a:pPr indent="0" marL="0">
              <a:buNone/>
            </a:pPr>
            <a:r>
              <a:rPr lang="en-US" sz="1400" b="1" dirty="0">
                <a:solidFill>
                  <a:schemeClr val="tx2"/>
                </a:solidFill>
              </a:rPr>
              <a:t>Peserta &amp; verifikasi</a:t>
            </a:r>
            <a:endParaRPr lang="en-US" sz="1400" dirty="0"/>
          </a:p>
        </p:txBody>
      </p:sp>
      <p:sp>
        <p:nvSpPr>
          <p:cNvPr id="13" name="Text 10"/>
          <p:cNvSpPr txBox="1"/>
          <p:nvPr/>
        </p:nvSpPr>
        <p:spPr>
          <a:xfrm>
            <a:off x="6365774" y="3081528"/>
            <a:ext cx="5277281" cy="274320"/>
          </a:xfrm>
          <a:prstGeom prst="rect">
            <a:avLst/>
          </a:prstGeom>
          <a:noFill/>
          <a:ln/>
        </p:spPr>
        <p:txBody>
          <a:bodyPr wrap="square" lIns="0" tIns="0" rIns="0" bIns="0" rtlCol="0" anchor="t"/>
          <a:lstStyle/>
          <a:p>
            <a:pPr indent="0" marL="0">
              <a:buNone/>
            </a:pPr>
            <a:r>
              <a:rPr lang="en-US" sz="1200" dirty="0">
                <a:solidFill>
                  <a:srgbClr val="46505C"/>
                </a:solidFill>
              </a:rPr>
              <a:t>participant versions, duplicates, Update Log</a:t>
            </a:r>
            <a:endParaRPr lang="en-US" sz="1200" dirty="0"/>
          </a:p>
        </p:txBody>
      </p:sp>
      <p:sp>
        <p:nvSpPr>
          <p:cNvPr id="14" name="Shape 11"/>
          <p:cNvSpPr/>
          <p:nvPr/>
        </p:nvSpPr>
        <p:spPr>
          <a:xfrm>
            <a:off x="6073166" y="3483864"/>
            <a:ext cx="155448" cy="155448"/>
          </a:xfrm>
          <a:prstGeom prst="ellipse">
            <a:avLst/>
          </a:prstGeom>
          <a:solidFill>
            <a:srgbClr val="B7791F"/>
          </a:solidFill>
          <a:ln w="12700">
            <a:solidFill>
              <a:srgbClr val="B7791F"/>
            </a:solidFill>
            <a:prstDash val="solid"/>
          </a:ln>
        </p:spPr>
      </p:sp>
      <p:sp>
        <p:nvSpPr>
          <p:cNvPr id="15" name="Text 12"/>
          <p:cNvSpPr txBox="1"/>
          <p:nvPr/>
        </p:nvSpPr>
        <p:spPr>
          <a:xfrm>
            <a:off x="6365774" y="3410712"/>
            <a:ext cx="5277281" cy="274320"/>
          </a:xfrm>
          <a:prstGeom prst="rect">
            <a:avLst/>
          </a:prstGeom>
          <a:noFill/>
          <a:ln/>
        </p:spPr>
        <p:txBody>
          <a:bodyPr wrap="square" lIns="0" tIns="0" rIns="0" bIns="0" rtlCol="0" anchor="t"/>
          <a:lstStyle/>
          <a:p>
            <a:pPr indent="0" marL="0">
              <a:buNone/>
            </a:pPr>
            <a:r>
              <a:rPr lang="en-US" sz="1400" b="1" dirty="0">
                <a:solidFill>
                  <a:schemeClr val="tx2"/>
                </a:solidFill>
              </a:rPr>
              <a:t>Kalender &amp; RENSTRA</a:t>
            </a:r>
            <a:endParaRPr lang="en-US" sz="1400" dirty="0"/>
          </a:p>
        </p:txBody>
      </p:sp>
      <p:sp>
        <p:nvSpPr>
          <p:cNvPr id="16" name="Text 13"/>
          <p:cNvSpPr txBox="1"/>
          <p:nvPr/>
        </p:nvSpPr>
        <p:spPr>
          <a:xfrm>
            <a:off x="6365774" y="3685032"/>
            <a:ext cx="5277281" cy="274320"/>
          </a:xfrm>
          <a:prstGeom prst="rect">
            <a:avLst/>
          </a:prstGeom>
          <a:noFill/>
          <a:ln/>
        </p:spPr>
        <p:txBody>
          <a:bodyPr wrap="square" lIns="0" tIns="0" rIns="0" bIns="0" rtlCol="0" anchor="t"/>
          <a:lstStyle/>
          <a:p>
            <a:pPr indent="0" marL="0">
              <a:buNone/>
            </a:pPr>
            <a:r>
              <a:rPr lang="en-US" sz="1200" dirty="0">
                <a:solidFill>
                  <a:srgbClr val="46505C"/>
                </a:solidFill>
              </a:rPr>
              <a:t>years, semesters, rules, targets, snapshots</a:t>
            </a:r>
            <a:endParaRPr lang="en-US" sz="1200" dirty="0"/>
          </a:p>
        </p:txBody>
      </p:sp>
      <p:sp>
        <p:nvSpPr>
          <p:cNvPr id="17" name="Shape 14"/>
          <p:cNvSpPr/>
          <p:nvPr/>
        </p:nvSpPr>
        <p:spPr>
          <a:xfrm>
            <a:off x="6073166" y="4087368"/>
            <a:ext cx="155448" cy="155448"/>
          </a:xfrm>
          <a:prstGeom prst="ellipse">
            <a:avLst/>
          </a:prstGeom>
          <a:solidFill>
            <a:srgbClr val="7A5BA6"/>
          </a:solidFill>
          <a:ln w="12700">
            <a:solidFill>
              <a:srgbClr val="7A5BA6"/>
            </a:solidFill>
            <a:prstDash val="solid"/>
          </a:ln>
        </p:spPr>
      </p:sp>
      <p:sp>
        <p:nvSpPr>
          <p:cNvPr id="18" name="Text 15"/>
          <p:cNvSpPr txBox="1"/>
          <p:nvPr/>
        </p:nvSpPr>
        <p:spPr>
          <a:xfrm>
            <a:off x="6365774" y="4014216"/>
            <a:ext cx="5277281" cy="274320"/>
          </a:xfrm>
          <a:prstGeom prst="rect">
            <a:avLst/>
          </a:prstGeom>
          <a:noFill/>
          <a:ln/>
        </p:spPr>
        <p:txBody>
          <a:bodyPr wrap="square" lIns="0" tIns="0" rIns="0" bIns="0" rtlCol="0" anchor="t"/>
          <a:lstStyle/>
          <a:p>
            <a:pPr indent="0" marL="0">
              <a:buNone/>
            </a:pPr>
            <a:r>
              <a:rPr lang="en-US" sz="1400" b="1" dirty="0">
                <a:solidFill>
                  <a:schemeClr val="tx2"/>
                </a:solidFill>
              </a:rPr>
              <a:t>Operasional &amp; mock</a:t>
            </a:r>
            <a:endParaRPr lang="en-US" sz="1400" dirty="0"/>
          </a:p>
        </p:txBody>
      </p:sp>
      <p:sp>
        <p:nvSpPr>
          <p:cNvPr id="19" name="Text 16"/>
          <p:cNvSpPr txBox="1"/>
          <p:nvPr/>
        </p:nvSpPr>
        <p:spPr>
          <a:xfrm>
            <a:off x="6365774" y="4288536"/>
            <a:ext cx="5277281" cy="274320"/>
          </a:xfrm>
          <a:prstGeom prst="rect">
            <a:avLst/>
          </a:prstGeom>
          <a:noFill/>
          <a:ln/>
        </p:spPr>
        <p:txBody>
          <a:bodyPr wrap="square" lIns="0" tIns="0" rIns="0" bIns="0" rtlCol="0" anchor="t"/>
          <a:lstStyle/>
          <a:p>
            <a:pPr indent="0" marL="0">
              <a:buNone/>
            </a:pPr>
            <a:r>
              <a:rPr lang="en-US" sz="1200" dirty="0">
                <a:solidFill>
                  <a:srgbClr val="46505C"/>
                </a:solidFill>
              </a:rPr>
              <a:t>settings, notifications, exports, BAAK/HR mocks</a:t>
            </a:r>
            <a:endParaRPr lang="en-US" sz="1200" dirty="0"/>
          </a:p>
        </p:txBody>
      </p:sp>
      <p:sp>
        <p:nvSpPr>
          <p:cNvPr id="20" name="guarantees card"/>
          <p:cNvSpPr/>
          <p:nvPr/>
        </p:nvSpPr>
        <p:spPr>
          <a:xfrm>
            <a:off x="6073166" y="4754880"/>
            <a:ext cx="5569889" cy="1417320"/>
          </a:xfrm>
          <a:prstGeom prst="roundRect">
            <a:avLst>
              <a:gd name="adj" fmla="val 5161"/>
            </a:avLst>
          </a:prstGeom>
          <a:solidFill>
            <a:schemeClr val="bg2"/>
          </a:solidFill>
          <a:ln w="12700">
            <a:solidFill>
              <a:schemeClr val="bg2"/>
            </a:solidFill>
            <a:prstDash val="solid"/>
          </a:ln>
        </p:spPr>
      </p:sp>
      <p:sp>
        <p:nvSpPr>
          <p:cNvPr id="21" name="Text 18"/>
          <p:cNvSpPr txBox="1"/>
          <p:nvPr/>
        </p:nvSpPr>
        <p:spPr>
          <a:xfrm>
            <a:off x="6301766" y="4892040"/>
            <a:ext cx="5204129" cy="1188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One kegiatan, one agreement, one current IA and IR</a:t>
            </a:r>
            <a:endParaRPr lang="en-US" sz="1300" dirty="0"/>
          </a:p>
          <a:p>
            <a:pPr marL="177800" indent="-177800">
              <a:spcAft>
                <a:spcPts val="600"/>
              </a:spcAft>
              <a:buSzPct val="100000"/>
              <a:buChar char="•"/>
            </a:pPr>
            <a:r>
              <a:rPr lang="en-US" sz="1300" dirty="0">
                <a:solidFill>
                  <a:schemeClr val="tx1"/>
                </a:solidFill>
              </a:rPr>
              <a:t>One approved participant list per kegiatan</a:t>
            </a:r>
            <a:endParaRPr lang="en-US" sz="1300" dirty="0"/>
          </a:p>
          <a:p>
            <a:pPr marL="177800" indent="-177800">
              <a:spcAft>
                <a:spcPts val="600"/>
              </a:spcAft>
              <a:buSzPct val="100000"/>
              <a:buChar char="•"/>
            </a:pPr>
            <a:r>
              <a:rPr lang="en-US" sz="1300" dirty="0">
                <a:solidFill>
                  <a:schemeClr val="tx1"/>
                </a:solidFill>
              </a:rPr>
              <a:t>Nothing submitted is ever deleted</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ARCHITECTURE</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One database, two systems</a:t>
            </a:r>
            <a:endParaRPr lang="en-US" sz="3200" dirty="0"/>
          </a:p>
        </p:txBody>
      </p:sp>
      <p:sp>
        <p:nvSpPr>
          <p:cNvPr id="4" name="browser box"/>
          <p:cNvSpPr/>
          <p:nvPr/>
        </p:nvSpPr>
        <p:spPr>
          <a:xfrm>
            <a:off x="548640" y="2377440"/>
            <a:ext cx="2011680" cy="182880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777240" y="2560320"/>
            <a:ext cx="1645920" cy="365760"/>
          </a:xfrm>
          <a:prstGeom prst="rect">
            <a:avLst/>
          </a:prstGeom>
          <a:noFill/>
          <a:ln/>
        </p:spPr>
        <p:txBody>
          <a:bodyPr wrap="square" lIns="0" tIns="0" rIns="0" bIns="0" rtlCol="0" anchor="t"/>
          <a:lstStyle/>
          <a:p>
            <a:pPr indent="0" marL="0">
              <a:buNone/>
            </a:pPr>
            <a:r>
              <a:rPr lang="en-US" sz="1600" b="1" dirty="0">
                <a:solidFill>
                  <a:schemeClr val="tx2"/>
                </a:solidFill>
              </a:rPr>
              <a:t>Browser</a:t>
            </a:r>
            <a:endParaRPr lang="en-US" sz="1600" dirty="0"/>
          </a:p>
        </p:txBody>
      </p:sp>
      <p:sp>
        <p:nvSpPr>
          <p:cNvPr id="6" name="Text 4"/>
          <p:cNvSpPr txBox="1"/>
          <p:nvPr/>
        </p:nvSpPr>
        <p:spPr>
          <a:xfrm>
            <a:off x="777240" y="2971800"/>
            <a:ext cx="1645920" cy="109728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Unit, KUI, Pimpinan</a:t>
            </a:r>
            <a:endParaRPr lang="en-US" sz="1250" dirty="0"/>
          </a:p>
          <a:p>
            <a:pPr indent="0" marL="0">
              <a:spcAft>
                <a:spcPts val="300"/>
              </a:spcAft>
              <a:buNone/>
            </a:pPr>
            <a:r>
              <a:rPr lang="en-US" sz="1250" dirty="0">
                <a:solidFill>
                  <a:schemeClr val="tx1"/>
                </a:solidFill>
              </a:rPr>
              <a:t>UI in Bahasa Indonesia</a:t>
            </a:r>
            <a:endParaRPr lang="en-US" sz="1250" dirty="0"/>
          </a:p>
        </p:txBody>
      </p:sp>
      <p:sp>
        <p:nvSpPr>
          <p:cNvPr id="7" name="next box"/>
          <p:cNvSpPr/>
          <p:nvPr/>
        </p:nvSpPr>
        <p:spPr>
          <a:xfrm>
            <a:off x="3063240" y="1828800"/>
            <a:ext cx="2743200" cy="2926080"/>
          </a:xfrm>
          <a:prstGeom prst="roundRect">
            <a:avLst>
              <a:gd name="adj" fmla="val 2667"/>
            </a:avLst>
          </a:prstGeom>
          <a:solidFill>
            <a:schemeClr val="bg2"/>
          </a:solidFill>
          <a:ln w="12700">
            <a:solidFill>
              <a:schemeClr val="bg2"/>
            </a:solidFill>
            <a:prstDash val="solid"/>
          </a:ln>
        </p:spPr>
      </p:sp>
      <p:sp>
        <p:nvSpPr>
          <p:cNvPr id="8" name="Text 6"/>
          <p:cNvSpPr txBox="1"/>
          <p:nvPr/>
        </p:nvSpPr>
        <p:spPr>
          <a:xfrm>
            <a:off x="3291840" y="2011680"/>
            <a:ext cx="2377440" cy="365760"/>
          </a:xfrm>
          <a:prstGeom prst="rect">
            <a:avLst/>
          </a:prstGeom>
          <a:noFill/>
          <a:ln/>
        </p:spPr>
        <p:txBody>
          <a:bodyPr wrap="square" lIns="0" tIns="0" rIns="0" bIns="0" rtlCol="0" anchor="t"/>
          <a:lstStyle/>
          <a:p>
            <a:pPr indent="0" marL="0">
              <a:buNone/>
            </a:pPr>
            <a:r>
              <a:rPr lang="en-US" sz="1600" b="1" dirty="0">
                <a:solidFill>
                  <a:schemeClr val="tx2"/>
                </a:solidFill>
              </a:rPr>
              <a:t>Next.js 15</a:t>
            </a:r>
            <a:endParaRPr lang="en-US" sz="1600" dirty="0"/>
          </a:p>
        </p:txBody>
      </p:sp>
      <p:sp>
        <p:nvSpPr>
          <p:cNvPr id="9" name="Text 7"/>
          <p:cNvSpPr txBox="1"/>
          <p:nvPr/>
        </p:nvSpPr>
        <p:spPr>
          <a:xfrm>
            <a:off x="3291840" y="2423160"/>
            <a:ext cx="2377440" cy="219456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App Router pages</a:t>
            </a:r>
            <a:endParaRPr lang="en-US" sz="1250" dirty="0"/>
          </a:p>
          <a:p>
            <a:pPr indent="0" marL="0">
              <a:spcAft>
                <a:spcPts val="300"/>
              </a:spcAft>
              <a:buNone/>
            </a:pPr>
            <a:r>
              <a:rPr lang="en-US" sz="1250" dirty="0">
                <a:solidFill>
                  <a:schemeClr val="tx1"/>
                </a:solidFill>
              </a:rPr>
              <a:t>Server actions</a:t>
            </a:r>
            <a:endParaRPr lang="en-US" sz="1250" dirty="0"/>
          </a:p>
          <a:p>
            <a:pPr indent="0" marL="0">
              <a:spcAft>
                <a:spcPts val="300"/>
              </a:spcAft>
              <a:buNone/>
            </a:pPr>
            <a:r>
              <a:rPr lang="en-US" sz="1250" dirty="0">
                <a:solidFill>
                  <a:schemeClr val="tx1"/>
                </a:solidFill>
              </a:rPr>
              <a:t>Excel export (exceljs)</a:t>
            </a:r>
            <a:endParaRPr lang="en-US" sz="1250" dirty="0"/>
          </a:p>
          <a:p>
            <a:pPr indent="0" marL="0">
              <a:spcAft>
                <a:spcPts val="300"/>
              </a:spcAft>
              <a:buNone/>
            </a:pPr>
            <a:r>
              <a:rPr lang="en-US" sz="1250" dirty="0">
                <a:solidFill>
                  <a:schemeClr val="tx1"/>
                </a:solidFill>
              </a:rPr>
              <a:t>Rate-limited lookups</a:t>
            </a:r>
            <a:endParaRPr lang="en-US" sz="1250" dirty="0"/>
          </a:p>
          <a:p>
            <a:pPr indent="0" marL="0">
              <a:spcAft>
                <a:spcPts val="300"/>
              </a:spcAft>
              <a:buNone/>
            </a:pPr>
            <a:r>
              <a:rPr lang="en-US" sz="1250" dirty="0">
                <a:solidFill>
                  <a:schemeClr val="tx1"/>
                </a:solidFill>
              </a:rPr>
              <a:t>SQL as role authenticated</a:t>
            </a:r>
            <a:endParaRPr lang="en-US" sz="1250" dirty="0"/>
          </a:p>
        </p:txBody>
      </p:sp>
      <p:sp>
        <p:nvSpPr>
          <p:cNvPr id="10" name="database frame"/>
          <p:cNvSpPr/>
          <p:nvPr/>
        </p:nvSpPr>
        <p:spPr>
          <a:xfrm>
            <a:off x="6263640" y="1600200"/>
            <a:ext cx="5349240" cy="4526280"/>
          </a:xfrm>
          <a:prstGeom prst="roundRect">
            <a:avLst>
              <a:gd name="adj" fmla="val 2020"/>
            </a:avLst>
          </a:prstGeom>
          <a:solidFill>
            <a:schemeClr val="bg1"/>
          </a:solidFill>
          <a:ln w="12700">
            <a:solidFill>
              <a:srgbClr val="5F6B78"/>
            </a:solidFill>
            <a:prstDash val="dash"/>
          </a:ln>
        </p:spPr>
      </p:sp>
      <p:sp>
        <p:nvSpPr>
          <p:cNvPr id="11" name="Text 9"/>
          <p:cNvSpPr txBox="1"/>
          <p:nvPr/>
        </p:nvSpPr>
        <p:spPr>
          <a:xfrm>
            <a:off x="6492240" y="1737360"/>
            <a:ext cx="4937760" cy="274320"/>
          </a:xfrm>
          <a:prstGeom prst="rect">
            <a:avLst/>
          </a:prstGeom>
          <a:noFill/>
          <a:ln/>
        </p:spPr>
        <p:txBody>
          <a:bodyPr wrap="square" lIns="0" tIns="0" rIns="0" bIns="0" rtlCol="0" anchor="t"/>
          <a:lstStyle/>
          <a:p>
            <a:pPr indent="0" marL="0">
              <a:buNone/>
            </a:pPr>
            <a:r>
              <a:rPr lang="en-US" sz="1200" dirty="0">
                <a:solidFill>
                  <a:srgbClr val="46505C"/>
                </a:solidFill>
              </a:rPr>
              <a:t>Supabase · simks-partnership · one Postgres database</a:t>
            </a:r>
            <a:endParaRPr lang="en-US" sz="1200" dirty="0"/>
          </a:p>
        </p:txBody>
      </p:sp>
      <p:sp>
        <p:nvSpPr>
          <p:cNvPr id="12" name="realisasi box"/>
          <p:cNvSpPr/>
          <p:nvPr/>
        </p:nvSpPr>
        <p:spPr>
          <a:xfrm>
            <a:off x="6492240" y="2148840"/>
            <a:ext cx="2423160" cy="3749040"/>
          </a:xfrm>
          <a:prstGeom prst="roundRect">
            <a:avLst>
              <a:gd name="adj" fmla="val 3019"/>
            </a:avLst>
          </a:prstGeom>
          <a:solidFill>
            <a:schemeClr val="tx2"/>
          </a:solidFill>
          <a:ln w="12700">
            <a:solidFill>
              <a:schemeClr val="tx2"/>
            </a:solidFill>
            <a:prstDash val="solid"/>
          </a:ln>
        </p:spPr>
      </p:sp>
      <p:sp>
        <p:nvSpPr>
          <p:cNvPr id="13" name="Text 11"/>
          <p:cNvSpPr txBox="1"/>
          <p:nvPr/>
        </p:nvSpPr>
        <p:spPr>
          <a:xfrm>
            <a:off x="6720840" y="2331720"/>
            <a:ext cx="2057400" cy="365760"/>
          </a:xfrm>
          <a:prstGeom prst="rect">
            <a:avLst/>
          </a:prstGeom>
          <a:noFill/>
          <a:ln/>
        </p:spPr>
        <p:txBody>
          <a:bodyPr wrap="square" lIns="0" tIns="0" rIns="0" bIns="0" rtlCol="0" anchor="t"/>
          <a:lstStyle/>
          <a:p>
            <a:pPr indent="0" marL="0">
              <a:buNone/>
            </a:pPr>
            <a:r>
              <a:rPr lang="en-US" sz="1600" b="1" dirty="0">
                <a:solidFill>
                  <a:schemeClr val="bg1"/>
                </a:solidFill>
              </a:rPr>
              <a:t>realisasi</a:t>
            </a:r>
            <a:endParaRPr lang="en-US" sz="1600" dirty="0"/>
          </a:p>
        </p:txBody>
      </p:sp>
      <p:sp>
        <p:nvSpPr>
          <p:cNvPr id="14" name="Text 12"/>
          <p:cNvSpPr txBox="1"/>
          <p:nvPr/>
        </p:nvSpPr>
        <p:spPr>
          <a:xfrm>
            <a:off x="6720840" y="2743200"/>
            <a:ext cx="2057400" cy="3017520"/>
          </a:xfrm>
          <a:prstGeom prst="rect">
            <a:avLst/>
          </a:prstGeom>
          <a:noFill/>
          <a:ln/>
        </p:spPr>
        <p:txBody>
          <a:bodyPr wrap="square" lIns="0" tIns="0" rIns="0" bIns="0" rtlCol="0" anchor="t"/>
          <a:lstStyle/>
          <a:p>
            <a:pPr indent="0" marL="0">
              <a:spcAft>
                <a:spcPts val="300"/>
              </a:spcAft>
              <a:buNone/>
            </a:pPr>
            <a:r>
              <a:rPr lang="en-US" sz="1250" dirty="0">
                <a:solidFill>
                  <a:schemeClr val="bg2"/>
                </a:solidFill>
              </a:rPr>
              <a:t>30 tables, 3 views</a:t>
            </a:r>
            <a:endParaRPr lang="en-US" sz="1250" dirty="0"/>
          </a:p>
          <a:p>
            <a:pPr indent="0" marL="0">
              <a:spcAft>
                <a:spcPts val="300"/>
              </a:spcAft>
              <a:buNone/>
            </a:pPr>
            <a:r>
              <a:rPr lang="en-US" sz="1250" dirty="0">
                <a:solidFill>
                  <a:schemeClr val="bg2"/>
                </a:solidFill>
              </a:rPr>
              <a:t>166 SQL functions</a:t>
            </a:r>
            <a:endParaRPr lang="en-US" sz="1250" dirty="0"/>
          </a:p>
          <a:p>
            <a:pPr indent="0" marL="0">
              <a:spcAft>
                <a:spcPts val="300"/>
              </a:spcAft>
              <a:buNone/>
            </a:pPr>
            <a:r>
              <a:rPr lang="en-US" sz="1250" dirty="0">
                <a:solidFill>
                  <a:schemeClr val="bg2"/>
                </a:solidFill>
              </a:rPr>
              <a:t>RLS on every table</a:t>
            </a:r>
            <a:endParaRPr lang="en-US" sz="1250" dirty="0"/>
          </a:p>
          <a:p>
            <a:pPr indent="0" marL="0">
              <a:spcAft>
                <a:spcPts val="300"/>
              </a:spcAft>
              <a:buNone/>
            </a:pPr>
            <a:r>
              <a:rPr lang="en-US" sz="1250" dirty="0">
                <a:solidFill>
                  <a:schemeClr val="bg2"/>
                </a:solidFill>
              </a:rPr>
              <a:t>pg_cron jobs 01:00 WIB</a:t>
            </a:r>
            <a:endParaRPr lang="en-US" sz="1250" dirty="0"/>
          </a:p>
        </p:txBody>
      </p:sp>
      <p:sp>
        <p:nvSpPr>
          <p:cNvPr id="15" name="kerjasama box"/>
          <p:cNvSpPr/>
          <p:nvPr/>
        </p:nvSpPr>
        <p:spPr>
          <a:xfrm>
            <a:off x="9098280" y="2148840"/>
            <a:ext cx="2286000" cy="1143000"/>
          </a:xfrm>
          <a:prstGeom prst="roundRect">
            <a:avLst>
              <a:gd name="adj" fmla="val 6400"/>
            </a:avLst>
          </a:prstGeom>
          <a:solidFill>
            <a:schemeClr val="bg2"/>
          </a:solidFill>
          <a:ln w="12700">
            <a:solidFill>
              <a:schemeClr val="bg2"/>
            </a:solidFill>
            <a:prstDash val="solid"/>
          </a:ln>
        </p:spPr>
      </p:sp>
      <p:sp>
        <p:nvSpPr>
          <p:cNvPr id="16" name="Text 14"/>
          <p:cNvSpPr txBox="1"/>
          <p:nvPr/>
        </p:nvSpPr>
        <p:spPr>
          <a:xfrm>
            <a:off x="9326880" y="2331720"/>
            <a:ext cx="1920240" cy="365760"/>
          </a:xfrm>
          <a:prstGeom prst="rect">
            <a:avLst/>
          </a:prstGeom>
          <a:noFill/>
          <a:ln/>
        </p:spPr>
        <p:txBody>
          <a:bodyPr wrap="square" lIns="0" tIns="0" rIns="0" bIns="0" rtlCol="0" anchor="t"/>
          <a:lstStyle/>
          <a:p>
            <a:pPr indent="0" marL="0">
              <a:buNone/>
            </a:pPr>
            <a:r>
              <a:rPr lang="en-US" sz="1600" b="1" dirty="0">
                <a:solidFill>
                  <a:schemeClr val="tx2"/>
                </a:solidFill>
              </a:rPr>
              <a:t>kerjasama</a:t>
            </a:r>
            <a:endParaRPr lang="en-US" sz="1600" dirty="0"/>
          </a:p>
        </p:txBody>
      </p:sp>
      <p:sp>
        <p:nvSpPr>
          <p:cNvPr id="17" name="Text 15"/>
          <p:cNvSpPr txBox="1"/>
          <p:nvPr/>
        </p:nvSpPr>
        <p:spPr>
          <a:xfrm>
            <a:off x="9326880" y="2743200"/>
            <a:ext cx="1920240" cy="41148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8 read-only views</a:t>
            </a:r>
            <a:endParaRPr lang="en-US" sz="1250" dirty="0"/>
          </a:p>
        </p:txBody>
      </p:sp>
      <p:sp>
        <p:nvSpPr>
          <p:cNvPr id="18" name="simks box"/>
          <p:cNvSpPr/>
          <p:nvPr/>
        </p:nvSpPr>
        <p:spPr>
          <a:xfrm>
            <a:off x="9098280" y="3451860"/>
            <a:ext cx="2286000" cy="1143000"/>
          </a:xfrm>
          <a:prstGeom prst="roundRect">
            <a:avLst>
              <a:gd name="adj" fmla="val 6400"/>
            </a:avLst>
          </a:prstGeom>
          <a:solidFill>
            <a:schemeClr val="bg2"/>
          </a:solidFill>
          <a:ln w="12700">
            <a:solidFill>
              <a:schemeClr val="bg2"/>
            </a:solidFill>
            <a:prstDash val="solid"/>
          </a:ln>
        </p:spPr>
      </p:sp>
      <p:sp>
        <p:nvSpPr>
          <p:cNvPr id="19" name="Text 17"/>
          <p:cNvSpPr txBox="1"/>
          <p:nvPr/>
        </p:nvSpPr>
        <p:spPr>
          <a:xfrm>
            <a:off x="9326880" y="3634740"/>
            <a:ext cx="1920240" cy="365760"/>
          </a:xfrm>
          <a:prstGeom prst="rect">
            <a:avLst/>
          </a:prstGeom>
          <a:noFill/>
          <a:ln/>
        </p:spPr>
        <p:txBody>
          <a:bodyPr wrap="square" lIns="0" tIns="0" rIns="0" bIns="0" rtlCol="0" anchor="t"/>
          <a:lstStyle/>
          <a:p>
            <a:pPr indent="0" marL="0">
              <a:buNone/>
            </a:pPr>
            <a:r>
              <a:rPr lang="en-US" sz="1600" b="1" dirty="0">
                <a:solidFill>
                  <a:schemeClr val="tx2"/>
                </a:solidFill>
              </a:rPr>
              <a:t>public · SIMKS</a:t>
            </a:r>
            <a:endParaRPr lang="en-US" sz="1600" dirty="0"/>
          </a:p>
        </p:txBody>
      </p:sp>
      <p:sp>
        <p:nvSpPr>
          <p:cNvPr id="20" name="Text 18"/>
          <p:cNvSpPr txBox="1"/>
          <p:nvPr/>
        </p:nvSpPr>
        <p:spPr>
          <a:xfrm>
            <a:off x="9326880" y="4046220"/>
            <a:ext cx="1920240" cy="41148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never written</a:t>
            </a:r>
            <a:endParaRPr lang="en-US" sz="1250" dirty="0"/>
          </a:p>
        </p:txBody>
      </p:sp>
      <p:sp>
        <p:nvSpPr>
          <p:cNvPr id="21" name="mock box"/>
          <p:cNvSpPr/>
          <p:nvPr/>
        </p:nvSpPr>
        <p:spPr>
          <a:xfrm>
            <a:off x="9098280" y="4754880"/>
            <a:ext cx="2286000" cy="1143000"/>
          </a:xfrm>
          <a:prstGeom prst="roundRect">
            <a:avLst>
              <a:gd name="adj" fmla="val 6400"/>
            </a:avLst>
          </a:prstGeom>
          <a:solidFill>
            <a:schemeClr val="bg2"/>
          </a:solidFill>
          <a:ln w="12700">
            <a:solidFill>
              <a:schemeClr val="bg2"/>
            </a:solidFill>
            <a:prstDash val="solid"/>
          </a:ln>
        </p:spPr>
      </p:sp>
      <p:sp>
        <p:nvSpPr>
          <p:cNvPr id="22" name="Text 20"/>
          <p:cNvSpPr txBox="1"/>
          <p:nvPr/>
        </p:nvSpPr>
        <p:spPr>
          <a:xfrm>
            <a:off x="9326880" y="4937760"/>
            <a:ext cx="1920240" cy="365760"/>
          </a:xfrm>
          <a:prstGeom prst="rect">
            <a:avLst/>
          </a:prstGeom>
          <a:noFill/>
          <a:ln/>
        </p:spPr>
        <p:txBody>
          <a:bodyPr wrap="square" lIns="0" tIns="0" rIns="0" bIns="0" rtlCol="0" anchor="t"/>
          <a:lstStyle/>
          <a:p>
            <a:pPr indent="0" marL="0">
              <a:buNone/>
            </a:pPr>
            <a:r>
              <a:rPr lang="en-US" sz="1600" b="1" dirty="0">
                <a:solidFill>
                  <a:schemeClr val="tx2"/>
                </a:solidFill>
              </a:rPr>
              <a:t>mock BAAK/HR</a:t>
            </a:r>
            <a:endParaRPr lang="en-US" sz="1600" dirty="0"/>
          </a:p>
        </p:txBody>
      </p:sp>
      <p:sp>
        <p:nvSpPr>
          <p:cNvPr id="23" name="Text 21"/>
          <p:cNvSpPr txBox="1"/>
          <p:nvPr/>
        </p:nvSpPr>
        <p:spPr>
          <a:xfrm>
            <a:off x="9326880" y="5349240"/>
            <a:ext cx="1920240" cy="41148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until PSI connects</a:t>
            </a:r>
            <a:endParaRPr lang="en-US" sz="1250" dirty="0"/>
          </a:p>
        </p:txBody>
      </p:sp>
      <p:sp>
        <p:nvSpPr>
          <p:cNvPr id="24" name="Shape 22"/>
          <p:cNvSpPr/>
          <p:nvPr/>
        </p:nvSpPr>
        <p:spPr>
          <a:xfrm>
            <a:off x="2606040" y="3291840"/>
            <a:ext cx="411480" cy="0"/>
          </a:xfrm>
          <a:prstGeom prst="line">
            <a:avLst/>
          </a:prstGeom>
          <a:noFill/>
          <a:ln w="22225">
            <a:solidFill>
              <a:schemeClr val="tx2"/>
            </a:solidFill>
            <a:prstDash val="solid"/>
            <a:tailEnd type="triangle"/>
          </a:ln>
        </p:spPr>
      </p:sp>
      <p:sp>
        <p:nvSpPr>
          <p:cNvPr id="25" name="Shape 23"/>
          <p:cNvSpPr/>
          <p:nvPr/>
        </p:nvSpPr>
        <p:spPr>
          <a:xfrm>
            <a:off x="5852160" y="3291840"/>
            <a:ext cx="594360" cy="0"/>
          </a:xfrm>
          <a:prstGeom prst="line">
            <a:avLst/>
          </a:prstGeom>
          <a:noFill/>
          <a:ln w="22225">
            <a:solidFill>
              <a:schemeClr val="tx2"/>
            </a:solidFill>
            <a:prstDash val="solid"/>
            <a:tailEnd type="triangle"/>
          </a:ln>
        </p:spPr>
      </p:sp>
      <p:sp>
        <p:nvSpPr>
          <p:cNvPr id="26" name="Text 24"/>
          <p:cNvSpPr txBox="1"/>
          <p:nvPr/>
        </p:nvSpPr>
        <p:spPr>
          <a:xfrm>
            <a:off x="548640" y="4983480"/>
            <a:ext cx="5257800" cy="1097280"/>
          </a:xfrm>
          <a:prstGeom prst="rect">
            <a:avLst/>
          </a:prstGeom>
          <a:noFill/>
          <a:ln/>
        </p:spPr>
        <p:txBody>
          <a:bodyPr wrap="square" lIns="0" tIns="0" rIns="0" bIns="0" rtlCol="0" anchor="t"/>
          <a:lstStyle/>
          <a:p>
            <a:pPr indent="0" marL="0">
              <a:buNone/>
            </a:pPr>
            <a:r>
              <a:rPr lang="en-US" sz="1300" dirty="0">
                <a:solidFill>
                  <a:srgbClr val="46505C"/>
                </a:solidFill>
              </a:rPr>
              <a:t>Business rules live in SQL. BAAK and HR sit behind two lookup functions, so production swaps the function body and nothing else.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BUILD, TEST, DEPLOY</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Tested at every layer before it ships</a:t>
            </a:r>
            <a:endParaRPr lang="en-US" sz="3200" dirty="0"/>
          </a:p>
        </p:txBody>
      </p:sp>
      <p:sp>
        <p:nvSpPr>
          <p:cNvPr id="4" name="quality card"/>
          <p:cNvSpPr/>
          <p:nvPr/>
        </p:nvSpPr>
        <p:spPr>
          <a:xfrm>
            <a:off x="548640" y="1645920"/>
            <a:ext cx="2606040" cy="2377440"/>
          </a:xfrm>
          <a:prstGeom prst="roundRect">
            <a:avLst>
              <a:gd name="adj" fmla="val 3077"/>
            </a:avLst>
          </a:prstGeom>
          <a:solidFill>
            <a:schemeClr val="bg2"/>
          </a:solidFill>
          <a:ln w="12700">
            <a:solidFill>
              <a:schemeClr val="bg2"/>
            </a:solidFill>
            <a:prstDash val="solid"/>
          </a:ln>
        </p:spPr>
      </p:sp>
      <p:sp>
        <p:nvSpPr>
          <p:cNvPr id="5" name="Text 3"/>
          <p:cNvSpPr txBox="1"/>
          <p:nvPr/>
        </p:nvSpPr>
        <p:spPr>
          <a:xfrm>
            <a:off x="822960" y="1828800"/>
            <a:ext cx="2103120" cy="868680"/>
          </a:xfrm>
          <a:prstGeom prst="rect">
            <a:avLst/>
          </a:prstGeom>
          <a:noFill/>
          <a:ln/>
        </p:spPr>
        <p:txBody>
          <a:bodyPr wrap="square" lIns="0" tIns="0" rIns="0" bIns="0" rtlCol="0" anchor="t"/>
          <a:lstStyle/>
          <a:p>
            <a:pPr indent="0" marL="0">
              <a:buNone/>
            </a:pPr>
            <a:r>
              <a:rPr lang="en-US" sz="4800" b="1" spc="-100" kern="0" dirty="0">
                <a:solidFill>
                  <a:schemeClr val="tx2"/>
                </a:solidFill>
              </a:rPr>
              <a:t>17</a:t>
            </a:r>
            <a:endParaRPr lang="en-US" sz="4800" dirty="0"/>
          </a:p>
        </p:txBody>
      </p:sp>
      <p:sp>
        <p:nvSpPr>
          <p:cNvPr id="6" name="Text 4"/>
          <p:cNvSpPr txBox="1"/>
          <p:nvPr/>
        </p:nvSpPr>
        <p:spPr>
          <a:xfrm>
            <a:off x="822960" y="26974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SQL test suites</a:t>
            </a:r>
            <a:endParaRPr lang="en-US" sz="1500" dirty="0"/>
          </a:p>
        </p:txBody>
      </p:sp>
      <p:sp>
        <p:nvSpPr>
          <p:cNvPr id="7" name="Text 5"/>
          <p:cNvSpPr txBox="1"/>
          <p:nvPr/>
        </p:nvSpPr>
        <p:spPr>
          <a:xfrm>
            <a:off x="822960" y="3063240"/>
            <a:ext cx="2148840" cy="822960"/>
          </a:xfrm>
          <a:prstGeom prst="rect">
            <a:avLst/>
          </a:prstGeom>
          <a:noFill/>
          <a:ln/>
        </p:spPr>
        <p:txBody>
          <a:bodyPr wrap="square" lIns="0" tIns="0" rIns="0" bIns="0" rtlCol="0" anchor="t"/>
          <a:lstStyle/>
          <a:p>
            <a:pPr indent="0" marL="0">
              <a:buNone/>
            </a:pPr>
            <a:r>
              <a:rPr lang="en-US" sz="1250" dirty="0">
                <a:solidFill>
                  <a:srgbClr val="46505C"/>
                </a:solidFill>
              </a:rPr>
              <a:t>status, indicators, snapshots, access, adapter, Awards</a:t>
            </a:r>
            <a:endParaRPr lang="en-US" sz="1250" dirty="0"/>
          </a:p>
        </p:txBody>
      </p:sp>
      <p:sp>
        <p:nvSpPr>
          <p:cNvPr id="8" name="quality card"/>
          <p:cNvSpPr/>
          <p:nvPr/>
        </p:nvSpPr>
        <p:spPr>
          <a:xfrm>
            <a:off x="3337560" y="1645920"/>
            <a:ext cx="2606040" cy="2377440"/>
          </a:xfrm>
          <a:prstGeom prst="roundRect">
            <a:avLst>
              <a:gd name="adj" fmla="val 3077"/>
            </a:avLst>
          </a:prstGeom>
          <a:solidFill>
            <a:schemeClr val="bg2"/>
          </a:solidFill>
          <a:ln w="12700">
            <a:solidFill>
              <a:schemeClr val="bg2"/>
            </a:solidFill>
            <a:prstDash val="solid"/>
          </a:ln>
        </p:spPr>
      </p:sp>
      <p:sp>
        <p:nvSpPr>
          <p:cNvPr id="9" name="Text 7"/>
          <p:cNvSpPr txBox="1"/>
          <p:nvPr/>
        </p:nvSpPr>
        <p:spPr>
          <a:xfrm>
            <a:off x="3611880" y="1828800"/>
            <a:ext cx="2103120" cy="868680"/>
          </a:xfrm>
          <a:prstGeom prst="rect">
            <a:avLst/>
          </a:prstGeom>
          <a:noFill/>
          <a:ln/>
        </p:spPr>
        <p:txBody>
          <a:bodyPr wrap="square" lIns="0" tIns="0" rIns="0" bIns="0" rtlCol="0" anchor="t"/>
          <a:lstStyle/>
          <a:p>
            <a:pPr indent="0" marL="0">
              <a:buNone/>
            </a:pPr>
            <a:r>
              <a:rPr lang="en-US" sz="4800" b="1" spc="-100" kern="0" dirty="0">
                <a:solidFill>
                  <a:schemeClr val="tx2"/>
                </a:solidFill>
              </a:rPr>
              <a:t>15</a:t>
            </a:r>
            <a:endParaRPr lang="en-US" sz="4800" dirty="0"/>
          </a:p>
        </p:txBody>
      </p:sp>
      <p:sp>
        <p:nvSpPr>
          <p:cNvPr id="10" name="Text 8"/>
          <p:cNvSpPr txBox="1"/>
          <p:nvPr/>
        </p:nvSpPr>
        <p:spPr>
          <a:xfrm>
            <a:off x="3611880" y="26974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Vitest files</a:t>
            </a:r>
            <a:endParaRPr lang="en-US" sz="1500" dirty="0"/>
          </a:p>
        </p:txBody>
      </p:sp>
      <p:sp>
        <p:nvSpPr>
          <p:cNvPr id="11" name="Text 9"/>
          <p:cNvSpPr txBox="1"/>
          <p:nvPr/>
        </p:nvSpPr>
        <p:spPr>
          <a:xfrm>
            <a:off x="3611880" y="3063240"/>
            <a:ext cx="2148840" cy="822960"/>
          </a:xfrm>
          <a:prstGeom prst="rect">
            <a:avLst/>
          </a:prstGeom>
          <a:noFill/>
          <a:ln/>
        </p:spPr>
        <p:txBody>
          <a:bodyPr wrap="square" lIns="0" tIns="0" rIns="0" bIns="0" rtlCol="0" anchor="t"/>
          <a:lstStyle/>
          <a:p>
            <a:pPr indent="0" marL="0">
              <a:buNone/>
            </a:pPr>
            <a:r>
              <a:rPr lang="en-US" sz="1250" dirty="0">
                <a:solidFill>
                  <a:srgbClr val="46505C"/>
                </a:solidFill>
              </a:rPr>
              <a:t>unit roll-up, workbooks, formats</a:t>
            </a:r>
            <a:endParaRPr lang="en-US" sz="1250" dirty="0"/>
          </a:p>
        </p:txBody>
      </p:sp>
      <p:sp>
        <p:nvSpPr>
          <p:cNvPr id="12" name="quality card"/>
          <p:cNvSpPr/>
          <p:nvPr/>
        </p:nvSpPr>
        <p:spPr>
          <a:xfrm>
            <a:off x="6126480" y="1645920"/>
            <a:ext cx="2606040" cy="2377440"/>
          </a:xfrm>
          <a:prstGeom prst="roundRect">
            <a:avLst>
              <a:gd name="adj" fmla="val 3077"/>
            </a:avLst>
          </a:prstGeom>
          <a:solidFill>
            <a:schemeClr val="bg2"/>
          </a:solidFill>
          <a:ln w="12700">
            <a:solidFill>
              <a:schemeClr val="bg2"/>
            </a:solidFill>
            <a:prstDash val="solid"/>
          </a:ln>
        </p:spPr>
      </p:sp>
      <p:sp>
        <p:nvSpPr>
          <p:cNvPr id="13" name="Text 11"/>
          <p:cNvSpPr txBox="1"/>
          <p:nvPr/>
        </p:nvSpPr>
        <p:spPr>
          <a:xfrm>
            <a:off x="6400800" y="1828800"/>
            <a:ext cx="2103120" cy="868680"/>
          </a:xfrm>
          <a:prstGeom prst="rect">
            <a:avLst/>
          </a:prstGeom>
          <a:noFill/>
          <a:ln/>
        </p:spPr>
        <p:txBody>
          <a:bodyPr wrap="square" lIns="0" tIns="0" rIns="0" bIns="0" rtlCol="0" anchor="t"/>
          <a:lstStyle/>
          <a:p>
            <a:pPr indent="0" marL="0">
              <a:buNone/>
            </a:pPr>
            <a:r>
              <a:rPr lang="en-US" sz="4800" b="1" spc="-100" kern="0" dirty="0">
                <a:solidFill>
                  <a:schemeClr val="tx2"/>
                </a:solidFill>
              </a:rPr>
              <a:t>6</a:t>
            </a:r>
            <a:endParaRPr lang="en-US" sz="4800" dirty="0"/>
          </a:p>
        </p:txBody>
      </p:sp>
      <p:sp>
        <p:nvSpPr>
          <p:cNvPr id="14" name="Text 12"/>
          <p:cNvSpPr txBox="1"/>
          <p:nvPr/>
        </p:nvSpPr>
        <p:spPr>
          <a:xfrm>
            <a:off x="6400800" y="26974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Playwright journeys</a:t>
            </a:r>
            <a:endParaRPr lang="en-US" sz="1500" dirty="0"/>
          </a:p>
        </p:txBody>
      </p:sp>
      <p:sp>
        <p:nvSpPr>
          <p:cNvPr id="15" name="Text 13"/>
          <p:cNvSpPr txBox="1"/>
          <p:nvPr/>
        </p:nvSpPr>
        <p:spPr>
          <a:xfrm>
            <a:off x="6400800" y="3063240"/>
            <a:ext cx="2148840" cy="822960"/>
          </a:xfrm>
          <a:prstGeom prst="rect">
            <a:avLst/>
          </a:prstGeom>
          <a:noFill/>
          <a:ln/>
        </p:spPr>
        <p:txBody>
          <a:bodyPr wrap="square" lIns="0" tIns="0" rIns="0" bIns="0" rtlCol="0" anchor="t"/>
          <a:lstStyle/>
          <a:p>
            <a:pPr indent="0" marL="0">
              <a:buNone/>
            </a:pPr>
            <a:r>
              <a:rPr lang="en-US" sz="1250" dirty="0">
                <a:solidFill>
                  <a:srgbClr val="46505C"/>
                </a:solidFill>
              </a:rPr>
              <a:t>submit, autosave, verify, reports, security</a:t>
            </a:r>
            <a:endParaRPr lang="en-US" sz="1250" dirty="0"/>
          </a:p>
        </p:txBody>
      </p:sp>
      <p:sp>
        <p:nvSpPr>
          <p:cNvPr id="16" name="quality card"/>
          <p:cNvSpPr/>
          <p:nvPr/>
        </p:nvSpPr>
        <p:spPr>
          <a:xfrm>
            <a:off x="8915400" y="1645920"/>
            <a:ext cx="2606040" cy="2377440"/>
          </a:xfrm>
          <a:prstGeom prst="roundRect">
            <a:avLst>
              <a:gd name="adj" fmla="val 3077"/>
            </a:avLst>
          </a:prstGeom>
          <a:solidFill>
            <a:schemeClr val="bg2"/>
          </a:solidFill>
          <a:ln w="12700">
            <a:solidFill>
              <a:schemeClr val="bg2"/>
            </a:solidFill>
            <a:prstDash val="solid"/>
          </a:ln>
        </p:spPr>
      </p:sp>
      <p:sp>
        <p:nvSpPr>
          <p:cNvPr id="17" name="Text 15"/>
          <p:cNvSpPr txBox="1"/>
          <p:nvPr/>
        </p:nvSpPr>
        <p:spPr>
          <a:xfrm>
            <a:off x="9189720" y="1828800"/>
            <a:ext cx="2103120" cy="868680"/>
          </a:xfrm>
          <a:prstGeom prst="rect">
            <a:avLst/>
          </a:prstGeom>
          <a:noFill/>
          <a:ln/>
        </p:spPr>
        <p:txBody>
          <a:bodyPr wrap="square" lIns="0" tIns="0" rIns="0" bIns="0" rtlCol="0" anchor="t"/>
          <a:lstStyle/>
          <a:p>
            <a:pPr indent="0" marL="0">
              <a:buNone/>
            </a:pPr>
            <a:r>
              <a:rPr lang="en-US" sz="4800" b="1" spc="-100" kern="0" dirty="0">
                <a:solidFill>
                  <a:schemeClr val="tx2"/>
                </a:solidFill>
              </a:rPr>
              <a:t>166</a:t>
            </a:r>
            <a:endParaRPr lang="en-US" sz="4800" dirty="0"/>
          </a:p>
        </p:txBody>
      </p:sp>
      <p:sp>
        <p:nvSpPr>
          <p:cNvPr id="18" name="Text 16"/>
          <p:cNvSpPr txBox="1"/>
          <p:nvPr/>
        </p:nvSpPr>
        <p:spPr>
          <a:xfrm>
            <a:off x="9189720" y="26974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SQL functions</a:t>
            </a:r>
            <a:endParaRPr lang="en-US" sz="1500" dirty="0"/>
          </a:p>
        </p:txBody>
      </p:sp>
      <p:sp>
        <p:nvSpPr>
          <p:cNvPr id="19" name="Text 17"/>
          <p:cNvSpPr txBox="1"/>
          <p:nvPr/>
        </p:nvSpPr>
        <p:spPr>
          <a:xfrm>
            <a:off x="9189720" y="3063240"/>
            <a:ext cx="2148840" cy="822960"/>
          </a:xfrm>
          <a:prstGeom prst="rect">
            <a:avLst/>
          </a:prstGeom>
          <a:noFill/>
          <a:ln/>
        </p:spPr>
        <p:txBody>
          <a:bodyPr wrap="square" lIns="0" tIns="0" rIns="0" bIns="0" rtlCol="0" anchor="t"/>
          <a:lstStyle/>
          <a:p>
            <a:pPr indent="0" marL="0">
              <a:buNone/>
            </a:pPr>
            <a:r>
              <a:rPr lang="en-US" sz="1250" dirty="0">
                <a:solidFill>
                  <a:srgbClr val="46505C"/>
                </a:solidFill>
              </a:rPr>
              <a:t>checked by the deploy fingerprint</a:t>
            </a:r>
            <a:endParaRPr lang="en-US" sz="1250" dirty="0"/>
          </a:p>
        </p:txBody>
      </p:sp>
      <p:sp>
        <p:nvSpPr>
          <p:cNvPr id="20" name="run card"/>
          <p:cNvSpPr/>
          <p:nvPr/>
        </p:nvSpPr>
        <p:spPr>
          <a:xfrm>
            <a:off x="548640" y="4297680"/>
            <a:ext cx="5440680" cy="1874520"/>
          </a:xfrm>
          <a:prstGeom prst="roundRect">
            <a:avLst>
              <a:gd name="adj" fmla="val 3902"/>
            </a:avLst>
          </a:prstGeom>
          <a:solidFill>
            <a:schemeClr val="bg2"/>
          </a:solidFill>
          <a:ln w="12700">
            <a:solidFill>
              <a:schemeClr val="bg2"/>
            </a:solidFill>
            <a:prstDash val="solid"/>
          </a:ln>
        </p:spPr>
      </p:sp>
      <p:sp>
        <p:nvSpPr>
          <p:cNvPr id="21" name="Text 19"/>
          <p:cNvSpPr txBox="1"/>
          <p:nvPr/>
        </p:nvSpPr>
        <p:spPr>
          <a:xfrm>
            <a:off x="822960" y="4462272"/>
            <a:ext cx="4572000" cy="365760"/>
          </a:xfrm>
          <a:prstGeom prst="rect">
            <a:avLst/>
          </a:prstGeom>
          <a:noFill/>
          <a:ln/>
        </p:spPr>
        <p:txBody>
          <a:bodyPr wrap="square" lIns="0" tIns="0" rIns="0" bIns="0" rtlCol="0" anchor="t"/>
          <a:lstStyle/>
          <a:p>
            <a:pPr indent="0" marL="0">
              <a:buNone/>
            </a:pPr>
            <a:r>
              <a:rPr lang="en-US" sz="1600" b="1" dirty="0">
                <a:solidFill>
                  <a:schemeClr val="tx2"/>
                </a:solidFill>
              </a:rPr>
              <a:t>Run locally</a:t>
            </a:r>
            <a:endParaRPr lang="en-US" sz="1600" dirty="0"/>
          </a:p>
        </p:txBody>
      </p:sp>
      <p:sp>
        <p:nvSpPr>
          <p:cNvPr id="22" name="Text 20"/>
          <p:cNvSpPr txBox="1"/>
          <p:nvPr/>
        </p:nvSpPr>
        <p:spPr>
          <a:xfrm>
            <a:off x="822960" y="4892040"/>
            <a:ext cx="4846320" cy="1143000"/>
          </a:xfrm>
          <a:prstGeom prst="rect">
            <a:avLst/>
          </a:prstGeom>
          <a:noFill/>
          <a:ln/>
        </p:spPr>
        <p:txBody>
          <a:bodyPr wrap="square" lIns="0" tIns="0" rIns="0" bIns="0" rtlCol="0" anchor="t"/>
          <a:lstStyle/>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npm install</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npm run db:reset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npm run dev</a:t>
            </a:r>
            <a:endParaRPr lang="en-US" sz="1300" dirty="0"/>
          </a:p>
        </p:txBody>
      </p:sp>
      <p:sp>
        <p:nvSpPr>
          <p:cNvPr id="23" name="deploy card"/>
          <p:cNvSpPr/>
          <p:nvPr/>
        </p:nvSpPr>
        <p:spPr>
          <a:xfrm>
            <a:off x="6172200" y="4297680"/>
            <a:ext cx="5440680" cy="1874520"/>
          </a:xfrm>
          <a:prstGeom prst="roundRect">
            <a:avLst>
              <a:gd name="adj" fmla="val 3902"/>
            </a:avLst>
          </a:prstGeom>
          <a:solidFill>
            <a:schemeClr val="bg2"/>
          </a:solidFill>
          <a:ln w="12700">
            <a:solidFill>
              <a:schemeClr val="bg2"/>
            </a:solidFill>
            <a:prstDash val="solid"/>
          </a:ln>
        </p:spPr>
      </p:sp>
      <p:sp>
        <p:nvSpPr>
          <p:cNvPr id="24" name="Text 22"/>
          <p:cNvSpPr txBox="1"/>
          <p:nvPr/>
        </p:nvSpPr>
        <p:spPr>
          <a:xfrm>
            <a:off x="6446520" y="4462272"/>
            <a:ext cx="4572000" cy="365760"/>
          </a:xfrm>
          <a:prstGeom prst="rect">
            <a:avLst/>
          </a:prstGeom>
          <a:noFill/>
          <a:ln/>
        </p:spPr>
        <p:txBody>
          <a:bodyPr wrap="square" lIns="0" tIns="0" rIns="0" bIns="0" rtlCol="0" anchor="t"/>
          <a:lstStyle/>
          <a:p>
            <a:pPr indent="0" marL="0">
              <a:buNone/>
            </a:pPr>
            <a:r>
              <a:rPr lang="en-US" sz="1600" b="1" dirty="0">
                <a:solidFill>
                  <a:schemeClr val="tx2"/>
                </a:solidFill>
              </a:rPr>
              <a:t>Deploy check</a:t>
            </a:r>
            <a:endParaRPr lang="en-US" sz="1600" dirty="0"/>
          </a:p>
        </p:txBody>
      </p:sp>
      <p:sp>
        <p:nvSpPr>
          <p:cNvPr id="25" name="Text 23"/>
          <p:cNvSpPr txBox="1"/>
          <p:nvPr/>
        </p:nvSpPr>
        <p:spPr>
          <a:xfrm>
            <a:off x="6446520" y="4892040"/>
            <a:ext cx="4937760" cy="114300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functions 166 · columns 317 · policies 25</a:t>
            </a:r>
            <a:endParaRPr lang="en-US" sz="1300" dirty="0"/>
          </a:p>
          <a:p>
            <a:pPr indent="0" marL="0">
              <a:spcAft>
                <a:spcPts val="400"/>
              </a:spcAft>
              <a:buNone/>
            </a:pPr>
            <a:r>
              <a:rPr lang="en-US" sz="1300" dirty="0">
                <a:solidFill>
                  <a:schemeClr val="tx1"/>
                </a:solidFill>
              </a:rPr>
              <a:t>scripts/db-deploy-supabase.sh or the SQL Editor files in supabase/deploy</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lIns="0" tIns="0" rIns="0" bIns="0" rtlCol="0" anchor="b"/>
          <a:lstStyle/>
          <a:p>
            <a:pPr indent="0" marL="0">
              <a:buNone/>
            </a:pPr>
            <a:r>
              <a:rPr lang="en-US" sz="2400" dirty="0">
                <a:solidFill>
                  <a:schemeClr val="bg2"/>
                </a:solidFill>
              </a:rPr>
              <a:t>Part four</a:t>
            </a: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lIns="0" tIns="0" rIns="0" bIns="0" rtlCol="0" anchor="t"/>
          <a:lstStyle/>
          <a:p>
            <a:pPr algn="l" indent="0" marL="0">
              <a:buNone/>
            </a:pPr>
            <a:r>
              <a:rPr lang="en-US" sz="4400" b="1" spc="-100" kern="0" dirty="0">
                <a:solidFill>
                  <a:schemeClr val="bg1"/>
                </a:solidFill>
              </a:rPr>
              <a:t>Status and decisions</a:t>
            </a: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lIns="0" tIns="0" rIns="0" bIns="0" rtlCol="0" anchor="t"/>
          <a:lstStyle/>
          <a:p>
            <a:pPr indent="0" marL="0">
              <a:buNone/>
            </a:pPr>
            <a:r>
              <a:rPr lang="en-US" sz="1800" dirty="0">
                <a:solidFill>
                  <a:schemeClr val="bg2"/>
                </a:solidFill>
              </a:rPr>
              <a:t>Where the project stands, and what we need from KUI to move from demo to real reporting.</a:t>
            </a:r>
            <a:endParaRPr lang="en-US" sz="1800" dirty="0"/>
          </a:p>
        </p:txBody>
      </p:sp>
      <p:pic>
        <p:nvPicPr>
          <p:cNvPr id="5" name="amber half ring" descr="preencoded.png">    </p:cNvPr>
          <p:cNvPicPr>
            <a:picLocks noChangeAspect="1"/>
          </p:cNvPicPr>
          <p:nvPr/>
        </p:nvPicPr>
        <p:blipFill>
          <a:blip r:embed="rId1"/>
          <a:stretch>
            <a:fillRect/>
          </a:stretch>
        </p:blipFill>
        <p:spPr>
          <a:xfrm>
            <a:off x="8778240" y="0"/>
            <a:ext cx="4206240" cy="2103120"/>
          </a:xfrm>
          <a:prstGeom prst="rect">
            <a:avLst/>
          </a:prstGeom>
        </p:spPr>
      </p:pic>
      <p:pic>
        <p:nvPicPr>
          <p:cNvPr id="6" name="teal half ring" descr="preencoded.png">    </p:cNvPr>
          <p:cNvPicPr>
            <a:picLocks noChangeAspect="1"/>
          </p:cNvPicPr>
          <p:nvPr/>
        </p:nvPicPr>
        <p:blipFill>
          <a:blip r:embed="rId2"/>
          <a:stretch>
            <a:fillRect/>
          </a:stretch>
        </p:blipFill>
        <p:spPr>
          <a:xfrm>
            <a:off x="9326880" y="4937760"/>
            <a:ext cx="3840480" cy="192024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TIMELINE</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From mockup to a live install in three weeks</a:t>
            </a:r>
            <a:endParaRPr lang="en-US" sz="3200" dirty="0"/>
          </a:p>
        </p:txBody>
      </p:sp>
      <p:sp>
        <p:nvSpPr>
          <p:cNvPr id="4" name="Shape 2"/>
          <p:cNvSpPr/>
          <p:nvPr/>
        </p:nvSpPr>
        <p:spPr>
          <a:xfrm>
            <a:off x="640080" y="2377440"/>
            <a:ext cx="10881360" cy="0"/>
          </a:xfrm>
          <a:prstGeom prst="line">
            <a:avLst/>
          </a:prstGeom>
          <a:noFill/>
          <a:ln w="25400">
            <a:solidFill>
              <a:srgbClr val="E2E5E9"/>
            </a:solidFill>
            <a:prstDash val="solid"/>
          </a:ln>
        </p:spPr>
      </p:sp>
      <p:sp>
        <p:nvSpPr>
          <p:cNvPr id="5" name="timeline point"/>
          <p:cNvSpPr/>
          <p:nvPr/>
        </p:nvSpPr>
        <p:spPr>
          <a:xfrm>
            <a:off x="566928" y="2258568"/>
            <a:ext cx="237744" cy="237744"/>
          </a:xfrm>
          <a:prstGeom prst="ellipse">
            <a:avLst/>
          </a:prstGeom>
          <a:solidFill>
            <a:schemeClr val="tx2"/>
          </a:solidFill>
          <a:ln w="25400">
            <a:solidFill>
              <a:schemeClr val="bg1"/>
            </a:solidFill>
            <a:prstDash val="solid"/>
          </a:ln>
        </p:spPr>
      </p:sp>
      <p:sp>
        <p:nvSpPr>
          <p:cNvPr id="6" name="Text 4"/>
          <p:cNvSpPr txBox="1"/>
          <p:nvPr/>
        </p:nvSpPr>
        <p:spPr>
          <a:xfrm>
            <a:off x="548640" y="1691640"/>
            <a:ext cx="2011680" cy="365760"/>
          </a:xfrm>
          <a:prstGeom prst="rect">
            <a:avLst/>
          </a:prstGeom>
          <a:noFill/>
          <a:ln/>
        </p:spPr>
        <p:txBody>
          <a:bodyPr wrap="square" lIns="0" tIns="0" rIns="0" bIns="0" rtlCol="0" anchor="t"/>
          <a:lstStyle/>
          <a:p>
            <a:pPr indent="0" marL="0">
              <a:buNone/>
            </a:pPr>
            <a:r>
              <a:rPr lang="en-US" sz="1400" b="1" dirty="0">
                <a:solidFill>
                  <a:srgbClr val="46505C"/>
                </a:solidFill>
              </a:rPr>
              <a:t>1 Oct</a:t>
            </a:r>
            <a:endParaRPr lang="en-US" sz="1400" dirty="0"/>
          </a:p>
        </p:txBody>
      </p:sp>
      <p:sp>
        <p:nvSpPr>
          <p:cNvPr id="7" name="Text 5"/>
          <p:cNvSpPr txBox="1"/>
          <p:nvPr/>
        </p:nvSpPr>
        <p:spPr>
          <a:xfrm>
            <a:off x="548640" y="2743200"/>
            <a:ext cx="2057400" cy="411480"/>
          </a:xfrm>
          <a:prstGeom prst="rect">
            <a:avLst/>
          </a:prstGeom>
          <a:noFill/>
          <a:ln/>
        </p:spPr>
        <p:txBody>
          <a:bodyPr wrap="square" lIns="0" tIns="0" rIns="0" bIns="0" rtlCol="0" anchor="t"/>
          <a:lstStyle/>
          <a:p>
            <a:pPr indent="0" marL="0">
              <a:buNone/>
            </a:pPr>
            <a:r>
              <a:rPr lang="en-US" sz="1700" b="1" dirty="0">
                <a:solidFill>
                  <a:schemeClr val="tx2"/>
                </a:solidFill>
              </a:rPr>
              <a:t>Mockup v1.0</a:t>
            </a:r>
            <a:endParaRPr lang="en-US" sz="1700" dirty="0"/>
          </a:p>
        </p:txBody>
      </p:sp>
      <p:sp>
        <p:nvSpPr>
          <p:cNvPr id="8" name="Text 6"/>
          <p:cNvSpPr txBox="1"/>
          <p:nvPr/>
        </p:nvSpPr>
        <p:spPr>
          <a:xfrm>
            <a:off x="548640" y="3200400"/>
            <a:ext cx="2011680" cy="1280160"/>
          </a:xfrm>
          <a:prstGeom prst="rect">
            <a:avLst/>
          </a:prstGeom>
          <a:noFill/>
          <a:ln/>
        </p:spPr>
        <p:txBody>
          <a:bodyPr wrap="square" lIns="0" tIns="0" rIns="0" bIns="0" rtlCol="0" anchor="t"/>
          <a:lstStyle/>
          <a:p>
            <a:pPr indent="0" marL="0">
              <a:buNone/>
            </a:pPr>
            <a:r>
              <a:rPr lang="en-US" sz="1400" dirty="0">
                <a:solidFill>
                  <a:schemeClr val="tx1"/>
                </a:solidFill>
              </a:rPr>
              <a:t>Full prototype on dummy data.</a:t>
            </a:r>
            <a:endParaRPr lang="en-US" sz="1400" dirty="0"/>
          </a:p>
        </p:txBody>
      </p:sp>
      <p:sp>
        <p:nvSpPr>
          <p:cNvPr id="9" name="timeline point"/>
          <p:cNvSpPr/>
          <p:nvPr/>
        </p:nvSpPr>
        <p:spPr>
          <a:xfrm>
            <a:off x="2807208" y="2258568"/>
            <a:ext cx="237744" cy="237744"/>
          </a:xfrm>
          <a:prstGeom prst="ellipse">
            <a:avLst/>
          </a:prstGeom>
          <a:solidFill>
            <a:schemeClr val="tx2"/>
          </a:solidFill>
          <a:ln w="25400">
            <a:solidFill>
              <a:schemeClr val="bg1"/>
            </a:solidFill>
            <a:prstDash val="solid"/>
          </a:ln>
        </p:spPr>
      </p:sp>
      <p:sp>
        <p:nvSpPr>
          <p:cNvPr id="10" name="Text 8"/>
          <p:cNvSpPr txBox="1"/>
          <p:nvPr/>
        </p:nvSpPr>
        <p:spPr>
          <a:xfrm>
            <a:off x="2788920" y="1691640"/>
            <a:ext cx="2011680" cy="365760"/>
          </a:xfrm>
          <a:prstGeom prst="rect">
            <a:avLst/>
          </a:prstGeom>
          <a:noFill/>
          <a:ln/>
        </p:spPr>
        <p:txBody>
          <a:bodyPr wrap="square" lIns="0" tIns="0" rIns="0" bIns="0" rtlCol="0" anchor="t"/>
          <a:lstStyle/>
          <a:p>
            <a:pPr indent="0" marL="0">
              <a:buNone/>
            </a:pPr>
            <a:r>
              <a:rPr lang="en-US" sz="1400" b="1" dirty="0">
                <a:solidFill>
                  <a:srgbClr val="46505C"/>
                </a:solidFill>
              </a:rPr>
              <a:t>2 Oct</a:t>
            </a:r>
            <a:endParaRPr lang="en-US" sz="1400" dirty="0"/>
          </a:p>
        </p:txBody>
      </p:sp>
      <p:sp>
        <p:nvSpPr>
          <p:cNvPr id="11" name="Text 9"/>
          <p:cNvSpPr txBox="1"/>
          <p:nvPr/>
        </p:nvSpPr>
        <p:spPr>
          <a:xfrm>
            <a:off x="2788920" y="2743200"/>
            <a:ext cx="2057400" cy="411480"/>
          </a:xfrm>
          <a:prstGeom prst="rect">
            <a:avLst/>
          </a:prstGeom>
          <a:noFill/>
          <a:ln/>
        </p:spPr>
        <p:txBody>
          <a:bodyPr wrap="square" lIns="0" tIns="0" rIns="0" bIns="0" rtlCol="0" anchor="t"/>
          <a:lstStyle/>
          <a:p>
            <a:pPr indent="0" marL="0">
              <a:buNone/>
            </a:pPr>
            <a:r>
              <a:rPr lang="en-US" sz="1700" b="1" dirty="0">
                <a:solidFill>
                  <a:schemeClr val="tx2"/>
                </a:solidFill>
              </a:rPr>
              <a:t>Revisi V.1</a:t>
            </a:r>
            <a:endParaRPr lang="en-US" sz="1700" dirty="0"/>
          </a:p>
        </p:txBody>
      </p:sp>
      <p:sp>
        <p:nvSpPr>
          <p:cNvPr id="12" name="Text 10"/>
          <p:cNvSpPr txBox="1"/>
          <p:nvPr/>
        </p:nvSpPr>
        <p:spPr>
          <a:xfrm>
            <a:off x="2788920" y="3200400"/>
            <a:ext cx="2011680" cy="1280160"/>
          </a:xfrm>
          <a:prstGeom prst="rect">
            <a:avLst/>
          </a:prstGeom>
          <a:noFill/>
          <a:ln/>
        </p:spPr>
        <p:txBody>
          <a:bodyPr wrap="square" lIns="0" tIns="0" rIns="0" bIns="0" rtlCol="0" anchor="t"/>
          <a:lstStyle/>
          <a:p>
            <a:pPr indent="0" marL="0">
              <a:buNone/>
            </a:pPr>
            <a:r>
              <a:rPr lang="en-US" sz="1400" dirty="0">
                <a:solidFill>
                  <a:schemeClr val="tx1"/>
                </a:solidFill>
              </a:rPr>
              <a:t>One-page form, Mobility-only verification, Awards.</a:t>
            </a:r>
            <a:endParaRPr lang="en-US" sz="1400" dirty="0"/>
          </a:p>
        </p:txBody>
      </p:sp>
      <p:sp>
        <p:nvSpPr>
          <p:cNvPr id="13" name="timeline point"/>
          <p:cNvSpPr/>
          <p:nvPr/>
        </p:nvSpPr>
        <p:spPr>
          <a:xfrm>
            <a:off x="5047488" y="2258568"/>
            <a:ext cx="237744" cy="237744"/>
          </a:xfrm>
          <a:prstGeom prst="ellipse">
            <a:avLst/>
          </a:prstGeom>
          <a:solidFill>
            <a:schemeClr val="tx2"/>
          </a:solidFill>
          <a:ln w="25400">
            <a:solidFill>
              <a:schemeClr val="bg1"/>
            </a:solidFill>
            <a:prstDash val="solid"/>
          </a:ln>
        </p:spPr>
      </p:sp>
      <p:sp>
        <p:nvSpPr>
          <p:cNvPr id="14" name="Text 12"/>
          <p:cNvSpPr txBox="1"/>
          <p:nvPr/>
        </p:nvSpPr>
        <p:spPr>
          <a:xfrm>
            <a:off x="5029200" y="1691640"/>
            <a:ext cx="2011680" cy="365760"/>
          </a:xfrm>
          <a:prstGeom prst="rect">
            <a:avLst/>
          </a:prstGeom>
          <a:noFill/>
          <a:ln/>
        </p:spPr>
        <p:txBody>
          <a:bodyPr wrap="square" lIns="0" tIns="0" rIns="0" bIns="0" rtlCol="0" anchor="t"/>
          <a:lstStyle/>
          <a:p>
            <a:pPr indent="0" marL="0">
              <a:buNone/>
            </a:pPr>
            <a:r>
              <a:rPr lang="en-US" sz="1400" b="1" dirty="0">
                <a:solidFill>
                  <a:srgbClr val="46505C"/>
                </a:solidFill>
              </a:rPr>
              <a:t>1–4 Oct</a:t>
            </a:r>
            <a:endParaRPr lang="en-US" sz="1400" dirty="0"/>
          </a:p>
        </p:txBody>
      </p:sp>
      <p:sp>
        <p:nvSpPr>
          <p:cNvPr id="15" name="Text 13"/>
          <p:cNvSpPr txBox="1"/>
          <p:nvPr/>
        </p:nvSpPr>
        <p:spPr>
          <a:xfrm>
            <a:off x="5029200" y="2743200"/>
            <a:ext cx="2057400" cy="411480"/>
          </a:xfrm>
          <a:prstGeom prst="rect">
            <a:avLst/>
          </a:prstGeom>
          <a:noFill/>
          <a:ln/>
        </p:spPr>
        <p:txBody>
          <a:bodyPr wrap="square" lIns="0" tIns="0" rIns="0" bIns="0" rtlCol="0" anchor="t"/>
          <a:lstStyle/>
          <a:p>
            <a:pPr indent="0" marL="0">
              <a:buNone/>
            </a:pPr>
            <a:r>
              <a:rPr lang="en-US" sz="1700" b="1" dirty="0">
                <a:solidFill>
                  <a:schemeClr val="tx2"/>
                </a:solidFill>
              </a:rPr>
              <a:t>Live install</a:t>
            </a:r>
            <a:endParaRPr lang="en-US" sz="1700" dirty="0"/>
          </a:p>
        </p:txBody>
      </p:sp>
      <p:sp>
        <p:nvSpPr>
          <p:cNvPr id="16" name="Text 14"/>
          <p:cNvSpPr txBox="1"/>
          <p:nvPr/>
        </p:nvSpPr>
        <p:spPr>
          <a:xfrm>
            <a:off x="5029200" y="3200400"/>
            <a:ext cx="2011680" cy="1280160"/>
          </a:xfrm>
          <a:prstGeom prst="rect">
            <a:avLst/>
          </a:prstGeom>
          <a:noFill/>
          <a:ln/>
        </p:spPr>
        <p:txBody>
          <a:bodyPr wrap="square" lIns="0" tIns="0" rIns="0" bIns="0" rtlCol="0" anchor="t"/>
          <a:lstStyle/>
          <a:p>
            <a:pPr indent="0" marL="0">
              <a:buNone/>
            </a:pPr>
            <a:r>
              <a:rPr lang="en-US" sz="1400" dirty="0">
                <a:solidFill>
                  <a:schemeClr val="tx1"/>
                </a:solidFill>
              </a:rPr>
              <a:t>Inside simks-partnership; 333 demo kegiatan.</a:t>
            </a:r>
            <a:endParaRPr lang="en-US" sz="1400" dirty="0"/>
          </a:p>
        </p:txBody>
      </p:sp>
      <p:sp>
        <p:nvSpPr>
          <p:cNvPr id="17" name="timeline point"/>
          <p:cNvSpPr/>
          <p:nvPr/>
        </p:nvSpPr>
        <p:spPr>
          <a:xfrm>
            <a:off x="7287768" y="2258568"/>
            <a:ext cx="237744" cy="237744"/>
          </a:xfrm>
          <a:prstGeom prst="ellipse">
            <a:avLst/>
          </a:prstGeom>
          <a:solidFill>
            <a:schemeClr val="tx2"/>
          </a:solidFill>
          <a:ln w="25400">
            <a:solidFill>
              <a:schemeClr val="bg1"/>
            </a:solidFill>
            <a:prstDash val="solid"/>
          </a:ln>
        </p:spPr>
      </p:sp>
      <p:sp>
        <p:nvSpPr>
          <p:cNvPr id="18" name="Text 16"/>
          <p:cNvSpPr txBox="1"/>
          <p:nvPr/>
        </p:nvSpPr>
        <p:spPr>
          <a:xfrm>
            <a:off x="7269480" y="1691640"/>
            <a:ext cx="2011680" cy="365760"/>
          </a:xfrm>
          <a:prstGeom prst="rect">
            <a:avLst/>
          </a:prstGeom>
          <a:noFill/>
          <a:ln/>
        </p:spPr>
        <p:txBody>
          <a:bodyPr wrap="square" lIns="0" tIns="0" rIns="0" bIns="0" rtlCol="0" anchor="t"/>
          <a:lstStyle/>
          <a:p>
            <a:pPr indent="0" marL="0">
              <a:buNone/>
            </a:pPr>
            <a:r>
              <a:rPr lang="en-US" sz="1400" b="1" dirty="0">
                <a:solidFill>
                  <a:srgbClr val="46505C"/>
                </a:solidFill>
              </a:rPr>
              <a:t>3 Oct</a:t>
            </a:r>
            <a:endParaRPr lang="en-US" sz="1400" dirty="0"/>
          </a:p>
        </p:txBody>
      </p:sp>
      <p:sp>
        <p:nvSpPr>
          <p:cNvPr id="19" name="Text 17"/>
          <p:cNvSpPr txBox="1"/>
          <p:nvPr/>
        </p:nvSpPr>
        <p:spPr>
          <a:xfrm>
            <a:off x="7269480" y="2743200"/>
            <a:ext cx="2057400" cy="411480"/>
          </a:xfrm>
          <a:prstGeom prst="rect">
            <a:avLst/>
          </a:prstGeom>
          <a:noFill/>
          <a:ln/>
        </p:spPr>
        <p:txBody>
          <a:bodyPr wrap="square" lIns="0" tIns="0" rIns="0" bIns="0" rtlCol="0" anchor="t"/>
          <a:lstStyle/>
          <a:p>
            <a:pPr indent="0" marL="0">
              <a:buNone/>
            </a:pPr>
            <a:r>
              <a:rPr lang="en-US" sz="1700" b="1" dirty="0">
                <a:solidFill>
                  <a:schemeClr val="tx2"/>
                </a:solidFill>
              </a:rPr>
              <a:t>Revisi V.2</a:t>
            </a:r>
            <a:endParaRPr lang="en-US" sz="1700" dirty="0"/>
          </a:p>
        </p:txBody>
      </p:sp>
      <p:sp>
        <p:nvSpPr>
          <p:cNvPr id="20" name="Text 18"/>
          <p:cNvSpPr txBox="1"/>
          <p:nvPr/>
        </p:nvSpPr>
        <p:spPr>
          <a:xfrm>
            <a:off x="7269480" y="3200400"/>
            <a:ext cx="2011680" cy="1280160"/>
          </a:xfrm>
          <a:prstGeom prst="rect">
            <a:avLst/>
          </a:prstGeom>
          <a:noFill/>
          <a:ln/>
        </p:spPr>
        <p:txBody>
          <a:bodyPr wrap="square" lIns="0" tIns="0" rIns="0" bIns="0" rtlCol="0" anchor="t"/>
          <a:lstStyle/>
          <a:p>
            <a:pPr indent="0" marL="0">
              <a:buNone/>
            </a:pPr>
            <a:r>
              <a:rPr lang="en-US" sz="1400" dirty="0">
                <a:solidFill>
                  <a:schemeClr val="tx1"/>
                </a:solidFill>
              </a:rPr>
              <a:t>RENSTRA per unit, 1.19.S4, Awards by Program Studi.</a:t>
            </a:r>
            <a:endParaRPr lang="en-US" sz="1400" dirty="0"/>
          </a:p>
        </p:txBody>
      </p:sp>
      <p:sp>
        <p:nvSpPr>
          <p:cNvPr id="21" name="timeline point"/>
          <p:cNvSpPr/>
          <p:nvPr/>
        </p:nvSpPr>
        <p:spPr>
          <a:xfrm>
            <a:off x="9528048" y="2258568"/>
            <a:ext cx="237744" cy="237744"/>
          </a:xfrm>
          <a:prstGeom prst="ellipse">
            <a:avLst/>
          </a:prstGeom>
          <a:solidFill>
            <a:schemeClr val="accent2"/>
          </a:solidFill>
          <a:ln w="25400">
            <a:solidFill>
              <a:schemeClr val="bg1"/>
            </a:solidFill>
            <a:prstDash val="solid"/>
          </a:ln>
        </p:spPr>
      </p:sp>
      <p:sp>
        <p:nvSpPr>
          <p:cNvPr id="22" name="Text 20"/>
          <p:cNvSpPr txBox="1"/>
          <p:nvPr/>
        </p:nvSpPr>
        <p:spPr>
          <a:xfrm>
            <a:off x="9509760" y="1691640"/>
            <a:ext cx="2011680" cy="365760"/>
          </a:xfrm>
          <a:prstGeom prst="rect">
            <a:avLst/>
          </a:prstGeom>
          <a:noFill/>
          <a:ln/>
        </p:spPr>
        <p:txBody>
          <a:bodyPr wrap="square" lIns="0" tIns="0" rIns="0" bIns="0" rtlCol="0" anchor="t"/>
          <a:lstStyle/>
          <a:p>
            <a:pPr indent="0" marL="0">
              <a:buNone/>
            </a:pPr>
            <a:r>
              <a:rPr lang="en-US" sz="1400" b="1" dirty="0">
                <a:solidFill>
                  <a:srgbClr val="46505C"/>
                </a:solidFill>
              </a:rPr>
              <a:t>5–18 Oct</a:t>
            </a:r>
            <a:endParaRPr lang="en-US" sz="1400" dirty="0"/>
          </a:p>
        </p:txBody>
      </p:sp>
      <p:sp>
        <p:nvSpPr>
          <p:cNvPr id="23" name="Text 21"/>
          <p:cNvSpPr txBox="1"/>
          <p:nvPr/>
        </p:nvSpPr>
        <p:spPr>
          <a:xfrm>
            <a:off x="9509760" y="2743200"/>
            <a:ext cx="2057400" cy="411480"/>
          </a:xfrm>
          <a:prstGeom prst="rect">
            <a:avLst/>
          </a:prstGeom>
          <a:noFill/>
          <a:ln/>
        </p:spPr>
        <p:txBody>
          <a:bodyPr wrap="square" lIns="0" tIns="0" rIns="0" bIns="0" rtlCol="0" anchor="t"/>
          <a:lstStyle/>
          <a:p>
            <a:pPr indent="0" marL="0">
              <a:buNone/>
            </a:pPr>
            <a:r>
              <a:rPr lang="en-US" sz="1700" b="1" dirty="0">
                <a:solidFill>
                  <a:schemeClr val="tx2"/>
                </a:solidFill>
              </a:rPr>
              <a:t>Round 2 &amp; targets</a:t>
            </a:r>
            <a:endParaRPr lang="en-US" sz="1700" dirty="0"/>
          </a:p>
        </p:txBody>
      </p:sp>
      <p:sp>
        <p:nvSpPr>
          <p:cNvPr id="24" name="Text 22"/>
          <p:cNvSpPr txBox="1"/>
          <p:nvPr/>
        </p:nvSpPr>
        <p:spPr>
          <a:xfrm>
            <a:off x="9509760" y="3200400"/>
            <a:ext cx="2011680" cy="1280160"/>
          </a:xfrm>
          <a:prstGeom prst="rect">
            <a:avLst/>
          </a:prstGeom>
          <a:noFill/>
          <a:ln/>
        </p:spPr>
        <p:txBody>
          <a:bodyPr wrap="square" lIns="0" tIns="0" rIns="0" bIns="0" rtlCol="0" anchor="t"/>
          <a:lstStyle/>
          <a:p>
            <a:pPr indent="0" marL="0">
              <a:buNone/>
            </a:pPr>
            <a:r>
              <a:rPr lang="en-US" sz="1400" dirty="0">
                <a:solidFill>
                  <a:schemeClr val="tx1"/>
                </a:solidFill>
              </a:rPr>
              <a:t>KUI as admins, Revisi flag, top 3, Target RENSTRA.</a:t>
            </a:r>
            <a:endParaRPr lang="en-US" sz="1400" dirty="0"/>
          </a:p>
        </p:txBody>
      </p:sp>
      <p:sp>
        <p:nvSpPr>
          <p:cNvPr id="25" name="pending card"/>
          <p:cNvSpPr/>
          <p:nvPr/>
        </p:nvSpPr>
        <p:spPr>
          <a:xfrm>
            <a:off x="548640" y="4892040"/>
            <a:ext cx="11064240" cy="1280160"/>
          </a:xfrm>
          <a:prstGeom prst="roundRect">
            <a:avLst>
              <a:gd name="adj" fmla="val 5714"/>
            </a:avLst>
          </a:prstGeom>
          <a:solidFill>
            <a:schemeClr val="bg2"/>
          </a:solidFill>
          <a:ln w="12700">
            <a:solidFill>
              <a:schemeClr val="bg2"/>
            </a:solidFill>
            <a:prstDash val="solid"/>
          </a:ln>
        </p:spPr>
      </p:sp>
      <p:sp>
        <p:nvSpPr>
          <p:cNvPr id="26" name="Text 24"/>
          <p:cNvSpPr txBox="1"/>
          <p:nvPr/>
        </p:nvSpPr>
        <p:spPr>
          <a:xfrm>
            <a:off x="822960" y="5074920"/>
            <a:ext cx="10515600" cy="914400"/>
          </a:xfrm>
          <a:prstGeom prst="rect">
            <a:avLst/>
          </a:prstGeom>
          <a:noFill/>
          <a:ln/>
        </p:spPr>
        <p:txBody>
          <a:bodyPr wrap="square" lIns="0" tIns="0" rIns="0" bIns="0" rtlCol="0" anchor="t"/>
          <a:lstStyle/>
          <a:p>
            <a:pPr indent="0" marL="0">
              <a:buNone/>
            </a:pPr>
            <a:r>
              <a:rPr lang="en-US" sz="1400" b="1" dirty="0">
                <a:solidFill>
                  <a:schemeClr val="tx2"/>
                </a:solidFill>
              </a:rPr>
              <a:t>Still to run on the live install: </a:t>
            </a:r>
            <a:pPr indent="0" marL="0">
              <a:buNone/>
            </a:pPr>
            <a:r>
              <a:rPr lang="en-US" sz="1400" dirty="0">
                <a:solidFill>
                  <a:schemeClr val="tx1"/>
                </a:solidFill>
              </a:rPr>
              <a:t>the Target RENSTRA patch (adds renstra_targets) and the Awards speed-up patch. Until then the Target column is empty live and Awards are slower, with the same results.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t"/>
          <a:lstStyle/>
          <a:p>
            <a:pPr indent="0" marL="0">
              <a:buNone/>
            </a:pPr>
            <a:r>
              <a:rPr lang="en-US" sz="1100" b="1" spc="220" kern="0" dirty="0">
                <a:solidFill>
                  <a:srgbClr val="46505C"/>
                </a:solidFill>
              </a:rPr>
              <a:t>NEXT STEPS</a:t>
            </a:r>
            <a:endParaRPr lang="en-US" sz="1100" dirty="0"/>
          </a:p>
        </p:txBody>
      </p:sp>
      <p:sp>
        <p:nvSpPr>
          <p:cNvPr id="3" name="Text 0"/>
          <p:cNvSpPr/>
          <p:nvPr>
            <p:ph idx="101" type="title" hasCustomPrompt="1"/>
          </p:nvPr>
        </p:nvSpPr>
        <p:spPr>
          <a:xfrm>
            <a:off x="548640" y="658368"/>
            <a:ext cx="11064240" cy="777240"/>
          </a:xfrm>
          <a:prstGeom prst="rect">
            <a:avLst/>
          </a:prstGeom>
          <a:noFill/>
          <a:ln/>
        </p:spPr>
        <p:txBody>
          <a:bodyPr wrap="square" lIns="0" tIns="0" rIns="0" bIns="0" rtlCol="0" anchor="t"/>
          <a:lstStyle/>
          <a:p>
            <a:pPr algn="l" indent="0" marL="0">
              <a:buNone/>
            </a:pPr>
            <a:r>
              <a:rPr lang="en-US" sz="3200" b="1" spc="-60" kern="0" dirty="0">
                <a:solidFill>
                  <a:schemeClr val="tx2"/>
                </a:solidFill>
              </a:rPr>
              <a:t>What we need to go live</a:t>
            </a:r>
            <a:endParaRPr lang="en-US" sz="3200" dirty="0"/>
          </a:p>
        </p:txBody>
      </p:sp>
      <p:sp>
        <p:nvSpPr>
          <p:cNvPr id="4" name="decisions card"/>
          <p:cNvSpPr/>
          <p:nvPr/>
        </p:nvSpPr>
        <p:spPr>
          <a:xfrm>
            <a:off x="548640" y="1645920"/>
            <a:ext cx="5440680" cy="4526280"/>
          </a:xfrm>
          <a:prstGeom prst="roundRect">
            <a:avLst>
              <a:gd name="adj" fmla="val 1616"/>
            </a:avLst>
          </a:prstGeom>
          <a:solidFill>
            <a:schemeClr val="tx2"/>
          </a:solidFill>
          <a:ln w="12700">
            <a:solidFill>
              <a:schemeClr val="tx2"/>
            </a:solidFill>
            <a:prstDash val="solid"/>
          </a:ln>
        </p:spPr>
      </p:sp>
      <p:sp>
        <p:nvSpPr>
          <p:cNvPr id="5" name="Text 3"/>
          <p:cNvSpPr txBox="1"/>
          <p:nvPr/>
        </p:nvSpPr>
        <p:spPr>
          <a:xfrm>
            <a:off x="822960" y="1874520"/>
            <a:ext cx="4846320" cy="411480"/>
          </a:xfrm>
          <a:prstGeom prst="rect">
            <a:avLst/>
          </a:prstGeom>
          <a:noFill/>
          <a:ln/>
        </p:spPr>
        <p:txBody>
          <a:bodyPr wrap="square" lIns="0" tIns="0" rIns="0" bIns="0" rtlCol="0" anchor="t"/>
          <a:lstStyle/>
          <a:p>
            <a:pPr indent="0" marL="0">
              <a:buNone/>
            </a:pPr>
            <a:r>
              <a:rPr lang="en-US" sz="2000" b="1" dirty="0">
                <a:solidFill>
                  <a:schemeClr val="bg1"/>
                </a:solidFill>
              </a:rPr>
              <a:t>Decisions needed from KUI</a:t>
            </a:r>
            <a:endParaRPr lang="en-US" sz="2000" dirty="0"/>
          </a:p>
        </p:txBody>
      </p:sp>
      <p:sp>
        <p:nvSpPr>
          <p:cNvPr id="6" name="Text 4"/>
          <p:cNvSpPr txBox="1"/>
          <p:nvPr/>
        </p:nvSpPr>
        <p:spPr>
          <a:xfrm>
            <a:off x="822960" y="2468880"/>
            <a:ext cx="4846320" cy="35661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bg1"/>
                </a:solidFill>
              </a:rPr>
              <a:t>How BAAK and HR data will be connected, and who at PSI owns it.</a:t>
            </a:r>
            <a:endParaRPr lang="en-US" sz="1500" dirty="0"/>
          </a:p>
          <a:p>
            <a:pPr marL="342900" indent="-342900">
              <a:spcAft>
                <a:spcPts val="800"/>
              </a:spcAft>
              <a:buSzPct val="100000"/>
              <a:buFont typeface="+mj-lt"/>
              <a:buAutoNum type="arabicPeriod" startAt="1"/>
            </a:pPr>
            <a:r>
              <a:rPr lang="en-US" sz="1500" dirty="0">
                <a:solidFill>
                  <a:schemeClr val="bg1"/>
                </a:solidFill>
              </a:rPr>
              <a:t>The official mobility category and 1.19.S1 flag per Jenis Kegiatan.</a:t>
            </a:r>
            <a:endParaRPr lang="en-US" sz="1500" dirty="0"/>
          </a:p>
          <a:p>
            <a:pPr marL="342900" indent="-342900">
              <a:spcAft>
                <a:spcPts val="800"/>
              </a:spcAft>
              <a:buSzPct val="100000"/>
              <a:buFont typeface="+mj-lt"/>
              <a:buAutoNum type="arabicPeriod" startAt="1"/>
            </a:pPr>
            <a:r>
              <a:rPr lang="en-US" sz="1500" dirty="0">
                <a:solidFill>
                  <a:schemeClr val="bg1"/>
                </a:solidFill>
              </a:rPr>
              <a:t>Official 2026/2027 semester cutoff dates.</a:t>
            </a:r>
            <a:endParaRPr lang="en-US" sz="1500" dirty="0"/>
          </a:p>
          <a:p>
            <a:pPr marL="342900" indent="-342900">
              <a:spcAft>
                <a:spcPts val="800"/>
              </a:spcAft>
              <a:buSzPct val="100000"/>
              <a:buFont typeface="+mj-lt"/>
              <a:buAutoNum type="arabicPeriod" startAt="1"/>
            </a:pPr>
            <a:r>
              <a:rPr lang="en-US" sz="1500" dirty="0">
                <a:solidFill>
                  <a:schemeClr val="bg1"/>
                </a:solidFill>
              </a:rPr>
              <a:t>Whether outbound students need a transcript snapshot.</a:t>
            </a:r>
            <a:endParaRPr lang="en-US" sz="1500" dirty="0"/>
          </a:p>
          <a:p>
            <a:pPr marL="342900" indent="-342900">
              <a:spcAft>
                <a:spcPts val="800"/>
              </a:spcAft>
              <a:buSzPct val="100000"/>
              <a:buFont typeface="+mj-lt"/>
              <a:buAutoNum type="arabicPeriod" startAt="1"/>
            </a:pPr>
            <a:r>
              <a:rPr lang="en-US" sz="1500" dirty="0">
                <a:solidFill>
                  <a:schemeClr val="bg1"/>
                </a:solidFill>
              </a:rPr>
              <a:t>The go-live date; history starts there.</a:t>
            </a:r>
            <a:endParaRPr lang="en-US" sz="1500" dirty="0"/>
          </a:p>
        </p:txBody>
      </p:sp>
      <p:sp>
        <p:nvSpPr>
          <p:cNvPr id="7" name="followups card"/>
          <p:cNvSpPr/>
          <p:nvPr/>
        </p:nvSpPr>
        <p:spPr>
          <a:xfrm>
            <a:off x="6172200" y="1645920"/>
            <a:ext cx="5440680" cy="4526280"/>
          </a:xfrm>
          <a:prstGeom prst="roundRect">
            <a:avLst>
              <a:gd name="adj" fmla="val 1616"/>
            </a:avLst>
          </a:prstGeom>
          <a:solidFill>
            <a:schemeClr val="bg2"/>
          </a:solidFill>
          <a:ln w="12700">
            <a:solidFill>
              <a:schemeClr val="bg2"/>
            </a:solidFill>
            <a:prstDash val="solid"/>
          </a:ln>
        </p:spPr>
      </p:sp>
      <p:sp>
        <p:nvSpPr>
          <p:cNvPr id="8" name="Text 6"/>
          <p:cNvSpPr txBox="1"/>
          <p:nvPr/>
        </p:nvSpPr>
        <p:spPr>
          <a:xfrm>
            <a:off x="6446520" y="1874520"/>
            <a:ext cx="4846320" cy="411480"/>
          </a:xfrm>
          <a:prstGeom prst="rect">
            <a:avLst/>
          </a:prstGeom>
          <a:noFill/>
          <a:ln/>
        </p:spPr>
        <p:txBody>
          <a:bodyPr wrap="square" lIns="0" tIns="0" rIns="0" bIns="0" rtlCol="0" anchor="t"/>
          <a:lstStyle/>
          <a:p>
            <a:pPr indent="0" marL="0">
              <a:buNone/>
            </a:pPr>
            <a:r>
              <a:rPr lang="en-US" sz="2000" b="1" dirty="0">
                <a:solidFill>
                  <a:schemeClr val="tx2"/>
                </a:solidFill>
              </a:rPr>
              <a:t>Technical follow-ups</a:t>
            </a:r>
            <a:endParaRPr lang="en-US" sz="2000" dirty="0"/>
          </a:p>
        </p:txBody>
      </p:sp>
      <p:sp>
        <p:nvSpPr>
          <p:cNvPr id="9" name="Text 7"/>
          <p:cNvSpPr txBox="1"/>
          <p:nvPr/>
        </p:nvSpPr>
        <p:spPr>
          <a:xfrm>
            <a:off x="6446520" y="2468880"/>
            <a:ext cx="4892040" cy="35661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Run the two pending patches on the live install.</a:t>
            </a:r>
            <a:endParaRPr lang="en-US" sz="1500" dirty="0"/>
          </a:p>
          <a:p>
            <a:pPr marL="177800" indent="-177800">
              <a:spcAft>
                <a:spcPts val="600"/>
              </a:spcAft>
              <a:buSzPct val="100000"/>
              <a:buChar char="•"/>
            </a:pPr>
            <a:r>
              <a:rPr lang="en-US" sz="1500" dirty="0">
                <a:solidFill>
                  <a:schemeClr val="tx1"/>
                </a:solidFill>
              </a:rPr>
              <a:t>Replace the demo role switcher with SIM Kerjasama's login.</a:t>
            </a:r>
            <a:endParaRPr lang="en-US" sz="1500" dirty="0"/>
          </a:p>
          <a:p>
            <a:pPr marL="177800" indent="-177800">
              <a:spcAft>
                <a:spcPts val="600"/>
              </a:spcAft>
              <a:buSzPct val="100000"/>
              <a:buChar char="•"/>
            </a:pPr>
            <a:r>
              <a:rPr lang="en-US" sz="1500" dirty="0">
                <a:solidFill>
                  <a:schemeClr val="tx1"/>
                </a:solidFill>
              </a:rPr>
              <a:t>Connect real BAAK/HR lookups; move files to Supabase Storage.</a:t>
            </a:r>
            <a:endParaRPr lang="en-US" sz="1500" dirty="0"/>
          </a:p>
          <a:p>
            <a:pPr marL="177800" indent="-177800">
              <a:spcAft>
                <a:spcPts val="600"/>
              </a:spcAft>
              <a:buSzPct val="100000"/>
              <a:buChar char="•"/>
            </a:pPr>
            <a:r>
              <a:rPr lang="en-US" sz="1500" dirty="0">
                <a:solidFill>
                  <a:schemeClr val="tx1"/>
                </a:solidFill>
              </a:rPr>
              <a:t>Update PRD, Architecture and Schema to Rules.md.</a:t>
            </a:r>
            <a:endParaRPr lang="en-US" sz="1500" dirty="0"/>
          </a:p>
          <a:p>
            <a:pPr marL="177800" indent="-177800">
              <a:spcAft>
                <a:spcPts val="600"/>
              </a:spcAft>
              <a:buSzPct val="100000"/>
              <a:buChar char="•"/>
            </a:pPr>
            <a:r>
              <a:rPr lang="en-US" sz="1500" dirty="0">
                <a:solidFill>
                  <a:schemeClr val="tx1"/>
                </a:solidFill>
              </a:rPr>
              <a:t>Remove the demo data before units start reporting.</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7772400" cy="502920"/>
          </a:xfrm>
          <a:prstGeom prst="rect">
            <a:avLst/>
          </a:prstGeom>
          <a:noFill/>
          <a:ln/>
        </p:spPr>
        <p:txBody>
          <a:bodyPr wrap="square" lIns="0" tIns="0" rIns="0" bIns="0" rtlCol="0" anchor="b"/>
          <a:lstStyle/>
          <a:p>
            <a:pPr indent="0" marL="0">
              <a:buNone/>
            </a:pPr>
            <a:r>
              <a:rPr lang="en-US" sz="2400" dirty="0">
                <a:solidFill>
                  <a:schemeClr val="bg2"/>
                </a:solidFill>
              </a:rPr>
              <a:t>The full brief</a:t>
            </a:r>
            <a:endParaRPr lang="en-US" sz="2400" dirty="0"/>
          </a:p>
        </p:txBody>
      </p:sp>
      <p:sp>
        <p:nvSpPr>
          <p:cNvPr id="3" name="Text 0"/>
          <p:cNvSpPr/>
          <p:nvPr>
            <p:ph idx="101" type="title" hasCustomPrompt="1"/>
          </p:nvPr>
        </p:nvSpPr>
        <p:spPr>
          <a:xfrm>
            <a:off x="548640" y="2926080"/>
            <a:ext cx="7680960" cy="1508760"/>
          </a:xfrm>
          <a:prstGeom prst="rect">
            <a:avLst/>
          </a:prstGeom>
          <a:noFill/>
          <a:ln/>
        </p:spPr>
        <p:txBody>
          <a:bodyPr wrap="square" lIns="0" tIns="0" rIns="0" bIns="0" rtlCol="0" anchor="t"/>
          <a:lstStyle/>
          <a:p>
            <a:pPr algn="l" indent="0" marL="0">
              <a:buNone/>
            </a:pPr>
            <a:r>
              <a:rPr lang="en-US" sz="4400" b="1" spc="-100" kern="0" dirty="0">
                <a:solidFill>
                  <a:schemeClr val="bg1"/>
                </a:solidFill>
              </a:rPr>
              <a:t>Thank you</a:t>
            </a:r>
            <a:endParaRPr lang="en-US" sz="4400" dirty="0"/>
          </a:p>
        </p:txBody>
      </p:sp>
      <p:sp>
        <p:nvSpPr>
          <p:cNvPr id="4" name="Text 0"/>
          <p:cNvSpPr/>
          <p:nvPr>
            <p:ph idx="102" type="body" hasCustomPrompt="1"/>
          </p:nvPr>
        </p:nvSpPr>
        <p:spPr>
          <a:xfrm>
            <a:off x="548640" y="4572000"/>
            <a:ext cx="6949440" cy="1097280"/>
          </a:xfrm>
          <a:prstGeom prst="rect">
            <a:avLst/>
          </a:prstGeom>
          <a:noFill/>
          <a:ln/>
        </p:spPr>
        <p:txBody>
          <a:bodyPr wrap="square" lIns="0" tIns="0" rIns="0" bIns="0" rtlCol="0" anchor="t"/>
          <a:lstStyle/>
          <a:p>
            <a:pPr indent="0" marL="0">
              <a:buNone/>
            </a:pPr>
            <a:r>
              <a:rPr lang="en-US" sz="1800" dirty="0">
                <a:solidFill>
                  <a:schemeClr val="bg2"/>
                </a:solidFill>
              </a:rPr>
              <a:t>Project brief   claude.ai/artifact/9Qu7aabbaBA1KsbxS2Tqa4</a:t>
            </a:r>
            <a:endParaRPr lang="en-US" sz="1800" dirty="0"/>
          </a:p>
          <a:p>
            <a:pPr indent="0" marL="0">
              <a:buNone/>
            </a:pPr>
            <a:r>
              <a:rPr lang="en-US" sz="1800" dirty="0">
                <a:solidFill>
                  <a:schemeClr val="bg2"/>
                </a:solidFill>
              </a:rPr>
              <a:t>Data model   claude.ai/artifact/TjJ3NDdH3S5Yi5CSGuxTyL</a:t>
            </a:r>
            <a:endParaRPr lang="en-US" sz="1800" dirty="0"/>
          </a:p>
          <a:p>
            <a:pPr indent="0" marL="0">
              <a:buNone/>
            </a:pPr>
            <a:r>
              <a:rPr lang="en-US" sz="1800" dirty="0">
                <a:solidFill>
                  <a:schemeClr val="bg2"/>
                </a:solidFill>
              </a:rPr>
              <a:t>Sources   docs/overview · docs/bpmn · docs/erd</a:t>
            </a:r>
            <a:endParaRPr lang="en-US" sz="1800" dirty="0"/>
          </a:p>
        </p:txBody>
      </p:sp>
      <p:pic>
        <p:nvPicPr>
          <p:cNvPr id="5" name="amber half ring" descr="preencoded.png">    </p:cNvPr>
          <p:cNvPicPr>
            <a:picLocks noChangeAspect="1"/>
          </p:cNvPicPr>
          <p:nvPr/>
        </p:nvPicPr>
        <p:blipFill>
          <a:blip r:embed="rId1"/>
          <a:stretch>
            <a:fillRect/>
          </a:stretch>
        </p:blipFill>
        <p:spPr>
          <a:xfrm>
            <a:off x="7955280" y="3931920"/>
            <a:ext cx="5852160" cy="2926080"/>
          </a:xfrm>
          <a:prstGeom prst="rect">
            <a:avLst/>
          </a:prstGeom>
        </p:spPr>
      </p:pic>
      <p:pic>
        <p:nvPicPr>
          <p:cNvPr id="6" name="teal half ring" descr="preencoded.png">    </p:cNvPr>
          <p:cNvPicPr>
            <a:picLocks noChangeAspect="1"/>
          </p:cNvPicPr>
          <p:nvPr/>
        </p:nvPicPr>
        <p:blipFill>
          <a:blip r:embed="rId2"/>
          <a:stretch>
            <a:fillRect/>
          </a:stretch>
        </p:blipFill>
        <p:spPr>
          <a:xfrm>
            <a:off x="9966960" y="0"/>
            <a:ext cx="2926080" cy="1463040"/>
          </a:xfrm>
          <a:prstGeom prst="rect">
            <a:avLst/>
          </a:prstGeom>
        </p:spPr>
      </p:pic>
      <p:pic>
        <p:nvPicPr>
          <p:cNvPr id="7" name="cerise half ring" descr="preencoded.png">    </p:cNvPr>
          <p:cNvPicPr>
            <a:picLocks noChangeAspect="1"/>
          </p:cNvPicPr>
          <p:nvPr/>
        </p:nvPicPr>
        <p:blipFill>
          <a:blip r:embed="rId3"/>
          <a:stretch>
            <a:fillRect/>
          </a:stretch>
        </p:blipFill>
        <p:spPr>
          <a:xfrm>
            <a:off x="8412480" y="0"/>
            <a:ext cx="1463040" cy="73152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CU Design System">
  <a:themeElements>
    <a:clrScheme name="PCU Design System">
      <a:dk1>
        <a:srgbClr val="000000"/>
      </a:dk1>
      <a:lt1>
        <a:srgbClr val="FFFFFF"/>
      </a:lt1>
      <a:dk2>
        <a:srgbClr val="19304B"/>
      </a:dk2>
      <a:lt2>
        <a:srgbClr val="F1F1F1"/>
      </a:lt2>
      <a:accent1>
        <a:srgbClr val="3880D0"/>
      </a:accent1>
      <a:accent2>
        <a:srgbClr val="FFBC00"/>
      </a:accent2>
      <a:accent3>
        <a:srgbClr val="45B8BC"/>
      </a:accent3>
      <a:accent4>
        <a:srgbClr val="EC008C"/>
      </a:accent4>
      <a:accent5>
        <a:srgbClr val="135D50"/>
      </a:accent5>
      <a:accent6>
        <a:srgbClr val="F37121"/>
      </a:accent6>
      <a:hlink>
        <a:srgbClr val="2A64A8"/>
      </a:hlink>
      <a:folHlink>
        <a:srgbClr val="19304B"/>
      </a:folHlink>
    </a:clrScheme>
    <a:fontScheme name="PCU Design Syste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Petra Christian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 Realisasi Project Brief</dc:title>
  <dc:subject>SIM Realisasi: business process, RENSTRA, data model, architecture and status</dc:subject>
  <dc:creator>Kantor Kerja Sama dan Urusan Internasional, Petra Christian University</dc:creator>
  <cp:lastModifiedBy>Kantor Kerja Sama dan Urusan Internasional, Petra Christian University</cp:lastModifiedBy>
  <cp:revision>1</cp:revision>
  <dcterms:created xsi:type="dcterms:W3CDTF">2026-10-26T06:27:41Z</dcterms:created>
  <dcterms:modified xsi:type="dcterms:W3CDTF">2026-10-26T06:27:41Z</dcterms:modified>
</cp:coreProperties>
</file>